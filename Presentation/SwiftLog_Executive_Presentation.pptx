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9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B3C5D"/>
                </a:solidFill>
                <a:latin typeface="Arial"/>
              </a:defRPr>
            </a:pPr>
            <a:r>
              <a:rPr lang="en-US" sz="1100" b="0" i="0" u="none" strike="noStrike">
                <a:solidFill>
                  <a:srgbClr val="0B3C5D"/>
                </a:solidFill>
                <a:latin typeface="Arial"/>
              </a:rPr>
              <a:t>On-time delivery rate by warehouse (%)</a:t>
            </a:r>
          </a:p>
        </c:rich>
      </c:tx>
      <c:overlay val="0"/>
    </c:title>
    <c:autoTitleDeleted val="0"/>
    <c:plotArea>
      <c:layout/>
      <c:barChart>
        <c:barDir val="col"/>
        <c:grouping val="clustered"/>
        <c:varyColors val="0"/>
        <c:ser>
          <c:idx val="0"/>
          <c:order val="0"/>
          <c:tx>
            <c:strRef>
              <c:f>Sheet1!$B$1</c:f>
              <c:strCache>
                <c:ptCount val="1"/>
                <c:pt idx="0">
                  <c:v>On-time rate (%)</c:v>
                </c:pt>
              </c:strCache>
            </c:strRef>
          </c:tx>
          <c:spPr>
            <a:solidFill>
              <a:srgbClr val="0B3C5D"/>
            </a:solidFill>
            <a:effectLst/>
          </c:spPr>
          <c:invertIfNegative val="0"/>
          <c:dLbls>
            <c:numFmt formatCode="0.0" sourceLinked="0"/>
            <c:spPr>
              <a:noFill/>
              <a:ln>
                <a:noFill/>
              </a:ln>
              <a:effectLst/>
            </c:spPr>
            <c:txPr>
              <a:bodyPr/>
              <a:lstStyle/>
              <a:p>
                <a:pPr>
                  <a:defRPr sz="8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W01</c:v>
                </c:pt>
                <c:pt idx="1">
                  <c:v>W10</c:v>
                </c:pt>
                <c:pt idx="2">
                  <c:v>W07</c:v>
                </c:pt>
                <c:pt idx="3">
                  <c:v>W14</c:v>
                </c:pt>
                <c:pt idx="4">
                  <c:v>W04</c:v>
                </c:pt>
                <c:pt idx="5">
                  <c:v>W11</c:v>
                </c:pt>
                <c:pt idx="6">
                  <c:v>W15</c:v>
                </c:pt>
                <c:pt idx="7">
                  <c:v>W08</c:v>
                </c:pt>
                <c:pt idx="8">
                  <c:v>W02</c:v>
                </c:pt>
                <c:pt idx="9">
                  <c:v>W12</c:v>
                </c:pt>
                <c:pt idx="10">
                  <c:v>W13</c:v>
                </c:pt>
                <c:pt idx="11">
                  <c:v>W06</c:v>
                </c:pt>
                <c:pt idx="12">
                  <c:v>W03</c:v>
                </c:pt>
                <c:pt idx="13">
                  <c:v>W09</c:v>
                </c:pt>
                <c:pt idx="14">
                  <c:v>W05</c:v>
                </c:pt>
              </c:strCache>
            </c:strRef>
          </c:cat>
          <c:val>
            <c:numRef>
              <c:f>Sheet1!$B$2:$B$16</c:f>
              <c:numCache>
                <c:formatCode>General</c:formatCode>
                <c:ptCount val="15"/>
                <c:pt idx="0">
                  <c:v>41.3</c:v>
                </c:pt>
                <c:pt idx="1">
                  <c:v>40.1</c:v>
                </c:pt>
                <c:pt idx="2">
                  <c:v>39.6</c:v>
                </c:pt>
                <c:pt idx="3">
                  <c:v>38.5</c:v>
                </c:pt>
                <c:pt idx="4">
                  <c:v>36.700000000000003</c:v>
                </c:pt>
                <c:pt idx="5">
                  <c:v>36.5</c:v>
                </c:pt>
                <c:pt idx="6">
                  <c:v>36.4</c:v>
                </c:pt>
                <c:pt idx="7">
                  <c:v>36.1</c:v>
                </c:pt>
                <c:pt idx="8">
                  <c:v>36</c:v>
                </c:pt>
                <c:pt idx="9">
                  <c:v>35.9</c:v>
                </c:pt>
                <c:pt idx="10">
                  <c:v>35.1</c:v>
                </c:pt>
                <c:pt idx="11">
                  <c:v>34.200000000000003</c:v>
                </c:pt>
                <c:pt idx="12">
                  <c:v>32.6</c:v>
                </c:pt>
                <c:pt idx="13">
                  <c:v>32.5</c:v>
                </c:pt>
                <c:pt idx="14">
                  <c:v>32</c:v>
                </c:pt>
              </c:numCache>
            </c:numRef>
          </c:val>
          <c:extLst>
            <c:ext xmlns:c16="http://schemas.microsoft.com/office/drawing/2014/chart" uri="{C3380CC4-5D6E-409C-BE32-E72D297353CC}">
              <c16:uniqueId val="{00000000-AAAC-4B3F-A562-19AD28AB513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B3C5D"/>
                </a:solidFill>
                <a:latin typeface="Arial"/>
              </a:defRPr>
            </a:pPr>
            <a:r>
              <a:rPr lang="en-US" sz="1100" b="0" i="0" u="none" strike="noStrike">
                <a:solidFill>
                  <a:srgbClr val="0B3C5D"/>
                </a:solidFill>
                <a:latin typeface="Arial"/>
              </a:rPr>
              <a:t>Orders by status (5,000)</a:t>
            </a:r>
          </a:p>
        </c:rich>
      </c:tx>
      <c:overlay val="0"/>
    </c:title>
    <c:autoTitleDeleted val="0"/>
    <c:plotArea>
      <c:layout/>
      <c:doughnutChart>
        <c:varyColors val="1"/>
        <c:ser>
          <c:idx val="0"/>
          <c:order val="0"/>
          <c:tx>
            <c:strRef>
              <c:f>Sheet1!$B$1</c:f>
              <c:strCache>
                <c:ptCount val="1"/>
                <c:pt idx="0">
                  <c:v>Orders</c:v>
                </c:pt>
              </c:strCache>
            </c:strRef>
          </c:tx>
          <c:spPr>
            <a:solidFill>
              <a:schemeClr val="accent1"/>
            </a:solidFill>
            <a:ln w="9525" cap="flat">
              <a:solidFill>
                <a:srgbClr val="F9F9F9"/>
              </a:solidFill>
              <a:prstDash val="solid"/>
              <a:round/>
            </a:ln>
            <a:effectLst/>
          </c:spPr>
          <c:dPt>
            <c:idx val="0"/>
            <c:bubble3D val="0"/>
            <c:spPr>
              <a:solidFill>
                <a:srgbClr val="1D7874"/>
              </a:solidFill>
              <a:effectLst/>
            </c:spPr>
            <c:extLst>
              <c:ext xmlns:c16="http://schemas.microsoft.com/office/drawing/2014/chart" uri="{C3380CC4-5D6E-409C-BE32-E72D297353CC}">
                <c16:uniqueId val="{00000001-A36E-483A-B82B-5461FAC3E9B1}"/>
              </c:ext>
            </c:extLst>
          </c:dPt>
          <c:dPt>
            <c:idx val="1"/>
            <c:bubble3D val="0"/>
            <c:spPr>
              <a:solidFill>
                <a:srgbClr val="F28C28"/>
              </a:solidFill>
              <a:effectLst/>
            </c:spPr>
            <c:extLst>
              <c:ext xmlns:c16="http://schemas.microsoft.com/office/drawing/2014/chart" uri="{C3380CC4-5D6E-409C-BE32-E72D297353CC}">
                <c16:uniqueId val="{00000003-A36E-483A-B82B-5461FAC3E9B1}"/>
              </c:ext>
            </c:extLst>
          </c:dPt>
          <c:dPt>
            <c:idx val="2"/>
            <c:bubble3D val="0"/>
            <c:spPr>
              <a:solidFill>
                <a:srgbClr val="C0392B"/>
              </a:solidFill>
              <a:effectLst/>
            </c:spPr>
            <c:extLst>
              <c:ext xmlns:c16="http://schemas.microsoft.com/office/drawing/2014/chart" uri="{C3380CC4-5D6E-409C-BE32-E72D297353CC}">
                <c16:uniqueId val="{00000005-A36E-483A-B82B-5461FAC3E9B1}"/>
              </c:ext>
            </c:extLst>
          </c:dPt>
          <c:dLbls>
            <c:dLbl>
              <c:idx val="0"/>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36E-483A-B82B-5461FAC3E9B1}"/>
                </c:ext>
              </c:extLst>
            </c:dLbl>
            <c:dLbl>
              <c:idx val="1"/>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36E-483A-B82B-5461FAC3E9B1}"/>
                </c:ext>
              </c:extLst>
            </c:dLbl>
            <c:dLbl>
              <c:idx val="2"/>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36E-483A-B82B-5461FAC3E9B1}"/>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Delivered</c:v>
                </c:pt>
                <c:pt idx="1">
                  <c:v>Pending</c:v>
                </c:pt>
                <c:pt idx="2">
                  <c:v>Cancelled</c:v>
                </c:pt>
              </c:strCache>
            </c:strRef>
          </c:cat>
          <c:val>
            <c:numRef>
              <c:f>Sheet1!$B$2:$B$4</c:f>
              <c:numCache>
                <c:formatCode>General</c:formatCode>
                <c:ptCount val="3"/>
                <c:pt idx="0">
                  <c:v>1658</c:v>
                </c:pt>
                <c:pt idx="1">
                  <c:v>1716</c:v>
                </c:pt>
                <c:pt idx="2">
                  <c:v>1626</c:v>
                </c:pt>
              </c:numCache>
            </c:numRef>
          </c:val>
          <c:extLst>
            <c:ext xmlns:c16="http://schemas.microsoft.com/office/drawing/2014/chart" uri="{C3380CC4-5D6E-409C-BE32-E72D297353CC}">
              <c16:uniqueId val="{00000006-A36E-483A-B82B-5461FAC3E9B1}"/>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B3C5D"/>
                </a:solidFill>
                <a:latin typeface="Arial"/>
              </a:defRPr>
            </a:pPr>
            <a:r>
              <a:rPr lang="en-US" sz="1100" b="0" i="0" u="none" strike="noStrike">
                <a:solidFill>
                  <a:srgbClr val="0B3C5D"/>
                </a:solidFill>
                <a:latin typeface="Arial"/>
              </a:rPr>
              <a:t>Stock against demand (units)</a:t>
            </a:r>
          </a:p>
        </c:rich>
      </c:tx>
      <c:overlay val="0"/>
    </c:title>
    <c:autoTitleDeleted val="0"/>
    <c:plotArea>
      <c:layout/>
      <c:barChart>
        <c:barDir val="col"/>
        <c:grouping val="clustered"/>
        <c:varyColors val="0"/>
        <c:ser>
          <c:idx val="0"/>
          <c:order val="0"/>
          <c:tx>
            <c:strRef>
              <c:f>Sheet1!$B$1</c:f>
              <c:strCache>
                <c:ptCount val="1"/>
                <c:pt idx="0">
                  <c:v>Units</c:v>
                </c:pt>
              </c:strCache>
            </c:strRef>
          </c:tx>
          <c:spPr>
            <a:solidFill>
              <a:srgbClr val="0B3C5D"/>
            </a:solidFill>
            <a:effectLst/>
          </c:spPr>
          <c:invertIfNegative val="0"/>
          <c:dLbls>
            <c:numFmt formatCode="#,##0" sourceLinked="0"/>
            <c:spPr>
              <a:noFill/>
              <a:ln>
                <a:noFill/>
              </a:ln>
              <a:effectLst/>
            </c:spPr>
            <c:txPr>
              <a:bodyPr/>
              <a:lstStyle/>
              <a:p>
                <a:pPr>
                  <a:defRPr sz="11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Units in stock</c:v>
                </c:pt>
                <c:pt idx="1">
                  <c:v>Units ordered</c:v>
                </c:pt>
                <c:pt idx="2">
                  <c:v>Units delivered</c:v>
                </c:pt>
              </c:strCache>
            </c:strRef>
          </c:cat>
          <c:val>
            <c:numRef>
              <c:f>Sheet1!$B$2:$B$4</c:f>
              <c:numCache>
                <c:formatCode>General</c:formatCode>
                <c:ptCount val="3"/>
                <c:pt idx="0">
                  <c:v>1007764</c:v>
                </c:pt>
                <c:pt idx="1">
                  <c:v>82442</c:v>
                </c:pt>
                <c:pt idx="2">
                  <c:v>27171</c:v>
                </c:pt>
              </c:numCache>
            </c:numRef>
          </c:val>
          <c:extLst>
            <c:ext xmlns:c16="http://schemas.microsoft.com/office/drawing/2014/chart" uri="{C3380CC4-5D6E-409C-BE32-E72D297353CC}">
              <c16:uniqueId val="{00000000-3A90-42BE-8748-151A0179BF7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B3C5D"/>
                </a:solidFill>
                <a:latin typeface="Arial"/>
              </a:defRPr>
            </a:pPr>
            <a:r>
              <a:rPr lang="en-US" sz="1100" b="0" i="0" u="none" strike="noStrike">
                <a:solidFill>
                  <a:srgbClr val="0B3C5D"/>
                </a:solidFill>
                <a:latin typeface="Arial"/>
              </a:rPr>
              <a:t>Returns by reason (500)</a:t>
            </a:r>
          </a:p>
        </c:rich>
      </c:tx>
      <c:overlay val="0"/>
    </c:title>
    <c:autoTitleDeleted val="0"/>
    <c:plotArea>
      <c:layout/>
      <c:barChart>
        <c:barDir val="bar"/>
        <c:grouping val="clustered"/>
        <c:varyColors val="0"/>
        <c:ser>
          <c:idx val="0"/>
          <c:order val="0"/>
          <c:tx>
            <c:strRef>
              <c:f>Sheet1!$B$1</c:f>
              <c:strCache>
                <c:ptCount val="1"/>
                <c:pt idx="0">
                  <c:v>Returns</c:v>
                </c:pt>
              </c:strCache>
            </c:strRef>
          </c:tx>
          <c:spPr>
            <a:solidFill>
              <a:srgbClr val="F28C28"/>
            </a:solidFill>
            <a:effectLst/>
          </c:spPr>
          <c:invertIfNegative val="0"/>
          <c:dLbls>
            <c:numFmt formatCode="#,##0" sourceLinked="0"/>
            <c:spPr>
              <a:noFill/>
              <a:ln>
                <a:noFill/>
              </a:ln>
              <a:effectLst/>
            </c:spPr>
            <c:txPr>
              <a:bodyPr/>
              <a:lstStyle/>
              <a:p>
                <a:pPr>
                  <a:defRPr sz="11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Late Delivery</c:v>
                </c:pt>
                <c:pt idx="1">
                  <c:v>Wrong Item</c:v>
                </c:pt>
                <c:pt idx="2">
                  <c:v>Damaged</c:v>
                </c:pt>
              </c:strCache>
            </c:strRef>
          </c:cat>
          <c:val>
            <c:numRef>
              <c:f>Sheet1!$B$2:$B$4</c:f>
              <c:numCache>
                <c:formatCode>General</c:formatCode>
                <c:ptCount val="3"/>
                <c:pt idx="0">
                  <c:v>185</c:v>
                </c:pt>
                <c:pt idx="1">
                  <c:v>163</c:v>
                </c:pt>
                <c:pt idx="2">
                  <c:v>152</c:v>
                </c:pt>
              </c:numCache>
            </c:numRef>
          </c:val>
          <c:extLst>
            <c:ext xmlns:c16="http://schemas.microsoft.com/office/drawing/2014/chart" uri="{C3380CC4-5D6E-409C-BE32-E72D297353CC}">
              <c16:uniqueId val="{00000000-EDDE-474E-9E9F-A929B7326023}"/>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7775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I am presenting the SwiftLog analytics solution: what we built, what the data shows and what I recommend. It covers business overview, objectives, data preparation, the dashboard, KPIs, key insights, recommendations, expected impact and conclusion.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SwiftLog is a growing Nigerian logistics company. Growth has created delays, inventory problems and limited visibility. The data in scope covers 5,000 orders, 1,000 customers, 250 products, 15 warehouses, 200 employees and 150 suppliers, from 1 January to 8 September 2026.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objectives guided the work: monitor performance, improve delivery, reduce costs, improve inventory, evaluate suppliers, improve warehouses, reduce returns and support executive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imported all 11 files, cleaned them in Power Query, built a star schema and wrote DAX measures. Data quality was good: no missing values and no orphan links. Where the data was silent, I documented an assumption, for example that On Time means 0 to 2 days late and that warehouse capacity is estimated.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Power BI here and demonstrate. Start on Executive Overview, then Customers, Inventory and Warehouse, Shipment and Delivery, and Supplier and Product. Show a slicer changing the numbers, the dynamic title, conditional colours, a drill-through to a product and a tooltip.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headline KPIs. Revenue is delivered orders only, 7.11 million naira. The red ones need attention: on-time delivery at 36 percent, average delay 3.6 days, cancellation 32.5 percent and inventory turnover 0.027. Orange ones are watch items.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36 percent of shipments arrive on time against an assumed 80 percent target. The best warehouse, W01, reaches 41 percent, so this is a company-wide process problem, not one weak site. Staff workload and stock level show almost no link to on-time rate. By region, Kano customers fare worst and Lagos best, but the gap is only about 5 points.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33 percent of orders are Delivered, 34 percent are Pending and 32.5 percent are Cancelled. Total order value is 21.7 million naira but delivered value is 7.1 million. All 3,342 cancelled or pending orders still have shipments, which is a cost and a data-quality issue.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SwiftLog holds just over a million units against 82 thousand units ordered, a turnover of 0.027. Yet 160 products have at least one warehouse under 100 units. The problem is distribution and replenishment control, not total quantity. The stock figures are summed movements, so a physical count is advised.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customer or product creates dependency: the top 10 customers are only 5 percent of delivered revenue, though the top 200 customers carry half. Fashion is the largest category. Returns are 9.5 percent of orders and almost identical across categories, so the cause is handling and process. 63 percent of returns are Wrong Item or Damaged.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twelve recommendations in the report group into six areas. Priority one is delivery and order completion. Then inventory control, return reduction, and customer retention and growth. Suppliers, logistics and monitoring depend on better data, so those start with data fixes.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largest upside comes from fixing order completion and delivery with existing customers and stock. Every 10 points off the cancellation rate is about 500 more delivered orders, roughly 2.2 million naira. Every 10 points on on-time rate is about 500 more on-time shipments. The targets on the right are proposals for management to confirm.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fix delivery and order completion first, control stock, returns and staffing next, and close the data gaps so supplier performance and delivery time can be measured exactly. Assumptions and limitations are documented in the report. Thank you.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8046720" cy="73152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SwiftLog Logistics</a:t>
            </a:r>
            <a:endParaRPr lang="en-US" sz="4200" dirty="0"/>
          </a:p>
        </p:txBody>
      </p:sp>
      <p:sp>
        <p:nvSpPr>
          <p:cNvPr id="3" name="Text 1"/>
          <p:cNvSpPr txBox="1"/>
          <p:nvPr/>
        </p:nvSpPr>
        <p:spPr>
          <a:xfrm>
            <a:off x="548640" y="1600200"/>
            <a:ext cx="8046720" cy="457200"/>
          </a:xfrm>
          <a:prstGeom prst="rect">
            <a:avLst/>
          </a:prstGeom>
          <a:noFill/>
          <a:ln/>
        </p:spPr>
        <p:txBody>
          <a:bodyPr wrap="square" lIns="0" tIns="0" rIns="0" bIns="0" rtlCol="0" anchor="t"/>
          <a:lstStyle/>
          <a:p>
            <a:pPr marL="0" indent="0">
              <a:buNone/>
            </a:pPr>
            <a:r>
              <a:rPr lang="en-US" sz="2200" dirty="0">
                <a:solidFill>
                  <a:srgbClr val="CFE0EE"/>
                </a:solidFill>
                <a:latin typeface="Cambria" pitchFamily="34" charset="0"/>
                <a:ea typeface="Cambria" pitchFamily="34" charset="-122"/>
                <a:cs typeface="Cambria" pitchFamily="34" charset="-120"/>
              </a:rPr>
              <a:t>Supply Chain Analytics and Business Intelligence</a:t>
            </a:r>
            <a:endParaRPr lang="en-US" sz="2200" dirty="0"/>
          </a:p>
        </p:txBody>
      </p:sp>
      <p:sp>
        <p:nvSpPr>
          <p:cNvPr id="4" name="Text 2"/>
          <p:cNvSpPr txBox="1"/>
          <p:nvPr/>
        </p:nvSpPr>
        <p:spPr>
          <a:xfrm>
            <a:off x="548640" y="2240280"/>
            <a:ext cx="8046720" cy="36576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Executive presentation to the SwiftLog leadership team</a:t>
            </a:r>
            <a:endParaRPr lang="en-US" sz="1600" dirty="0"/>
          </a:p>
        </p:txBody>
      </p:sp>
      <p:sp>
        <p:nvSpPr>
          <p:cNvPr id="5" name="Text 3"/>
          <p:cNvSpPr txBox="1"/>
          <p:nvPr/>
        </p:nvSpPr>
        <p:spPr>
          <a:xfrm>
            <a:off x="548640" y="2743200"/>
            <a:ext cx="8046720" cy="365760"/>
          </a:xfrm>
          <a:prstGeom prst="rect">
            <a:avLst/>
          </a:prstGeom>
          <a:noFill/>
          <a:ln/>
        </p:spPr>
        <p:txBody>
          <a:bodyPr wrap="square" lIns="0" tIns="0" rIns="0" bIns="0" rtlCol="0" anchor="t"/>
          <a:lstStyle/>
          <a:p>
            <a:pPr marL="0" indent="0">
              <a:buNone/>
            </a:pPr>
            <a:r>
              <a:rPr lang="en-US" sz="1400" dirty="0">
                <a:solidFill>
                  <a:srgbClr val="CFE0EE"/>
                </a:solidFill>
                <a:latin typeface="Calibri" pitchFamily="34" charset="0"/>
                <a:ea typeface="Calibri" pitchFamily="34" charset="-122"/>
                <a:cs typeface="Calibri" pitchFamily="34" charset="-120"/>
              </a:rPr>
              <a:t>AnalystLab Africa Consulting  |  Data Analytics Track  |  Emeh Franklin Chukwuebuka</a:t>
            </a:r>
            <a:endParaRPr lang="en-US" sz="1400" dirty="0"/>
          </a:p>
        </p:txBody>
      </p:sp>
      <p:sp>
        <p:nvSpPr>
          <p:cNvPr id="6" name="Shape 4"/>
          <p:cNvSpPr/>
          <p:nvPr/>
        </p:nvSpPr>
        <p:spPr>
          <a:xfrm>
            <a:off x="548640" y="3840480"/>
            <a:ext cx="1463040" cy="640080"/>
          </a:xfrm>
          <a:prstGeom prst="roundRect">
            <a:avLst>
              <a:gd name="adj" fmla="val 14286"/>
            </a:avLst>
          </a:prstGeom>
          <a:solidFill>
            <a:srgbClr val="14506F"/>
          </a:solidFill>
          <a:ln w="12700">
            <a:solidFill>
              <a:srgbClr val="14506F"/>
            </a:solidFill>
            <a:prstDash val="solid"/>
          </a:ln>
        </p:spPr>
      </p:sp>
      <p:sp>
        <p:nvSpPr>
          <p:cNvPr id="7" name="Text 5"/>
          <p:cNvSpPr txBox="1"/>
          <p:nvPr/>
        </p:nvSpPr>
        <p:spPr>
          <a:xfrm>
            <a:off x="548640" y="3840480"/>
            <a:ext cx="146304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Overview</a:t>
            </a:r>
            <a:endParaRPr lang="en-US" sz="1300" dirty="0"/>
          </a:p>
        </p:txBody>
      </p:sp>
      <p:sp>
        <p:nvSpPr>
          <p:cNvPr id="8" name="Shape 6"/>
          <p:cNvSpPr/>
          <p:nvPr/>
        </p:nvSpPr>
        <p:spPr>
          <a:xfrm>
            <a:off x="2148840" y="3840480"/>
            <a:ext cx="1463040" cy="640080"/>
          </a:xfrm>
          <a:prstGeom prst="roundRect">
            <a:avLst>
              <a:gd name="adj" fmla="val 14286"/>
            </a:avLst>
          </a:prstGeom>
          <a:solidFill>
            <a:srgbClr val="14506F"/>
          </a:solidFill>
          <a:ln w="12700">
            <a:solidFill>
              <a:srgbClr val="14506F"/>
            </a:solidFill>
            <a:prstDash val="solid"/>
          </a:ln>
        </p:spPr>
      </p:sp>
      <p:sp>
        <p:nvSpPr>
          <p:cNvPr id="9" name="Text 7"/>
          <p:cNvSpPr txBox="1"/>
          <p:nvPr/>
        </p:nvSpPr>
        <p:spPr>
          <a:xfrm>
            <a:off x="2148840" y="3840480"/>
            <a:ext cx="146304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a:t>
            </a:r>
            <a:endParaRPr lang="en-US" sz="1300" dirty="0"/>
          </a:p>
        </p:txBody>
      </p:sp>
      <p:sp>
        <p:nvSpPr>
          <p:cNvPr id="10" name="Shape 8"/>
          <p:cNvSpPr/>
          <p:nvPr/>
        </p:nvSpPr>
        <p:spPr>
          <a:xfrm>
            <a:off x="3749040" y="3840480"/>
            <a:ext cx="1463040" cy="640080"/>
          </a:xfrm>
          <a:prstGeom prst="roundRect">
            <a:avLst>
              <a:gd name="adj" fmla="val 14286"/>
            </a:avLst>
          </a:prstGeom>
          <a:solidFill>
            <a:srgbClr val="14506F"/>
          </a:solidFill>
          <a:ln w="12700">
            <a:solidFill>
              <a:srgbClr val="14506F"/>
            </a:solidFill>
            <a:prstDash val="solid"/>
          </a:ln>
        </p:spPr>
      </p:sp>
      <p:sp>
        <p:nvSpPr>
          <p:cNvPr id="11" name="Text 9"/>
          <p:cNvSpPr txBox="1"/>
          <p:nvPr/>
        </p:nvSpPr>
        <p:spPr>
          <a:xfrm>
            <a:off x="3749040" y="3840480"/>
            <a:ext cx="146304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p:txBody>
      </p:sp>
      <p:sp>
        <p:nvSpPr>
          <p:cNvPr id="12" name="Shape 10"/>
          <p:cNvSpPr/>
          <p:nvPr/>
        </p:nvSpPr>
        <p:spPr>
          <a:xfrm>
            <a:off x="5349240" y="3840480"/>
            <a:ext cx="1463040" cy="640080"/>
          </a:xfrm>
          <a:prstGeom prst="roundRect">
            <a:avLst>
              <a:gd name="adj" fmla="val 14286"/>
            </a:avLst>
          </a:prstGeom>
          <a:solidFill>
            <a:srgbClr val="14506F"/>
          </a:solidFill>
          <a:ln w="12700">
            <a:solidFill>
              <a:srgbClr val="14506F"/>
            </a:solidFill>
            <a:prstDash val="solid"/>
          </a:ln>
        </p:spPr>
      </p:sp>
      <p:sp>
        <p:nvSpPr>
          <p:cNvPr id="13" name="Text 11"/>
          <p:cNvSpPr txBox="1"/>
          <p:nvPr/>
        </p:nvSpPr>
        <p:spPr>
          <a:xfrm>
            <a:off x="5349240" y="3840480"/>
            <a:ext cx="146304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Insights</a:t>
            </a:r>
            <a:endParaRPr lang="en-US" sz="1300" dirty="0"/>
          </a:p>
        </p:txBody>
      </p:sp>
      <p:sp>
        <p:nvSpPr>
          <p:cNvPr id="14" name="Shape 12"/>
          <p:cNvSpPr/>
          <p:nvPr/>
        </p:nvSpPr>
        <p:spPr>
          <a:xfrm>
            <a:off x="6949440" y="3840480"/>
            <a:ext cx="1463040" cy="640080"/>
          </a:xfrm>
          <a:prstGeom prst="roundRect">
            <a:avLst>
              <a:gd name="adj" fmla="val 14286"/>
            </a:avLst>
          </a:prstGeom>
          <a:solidFill>
            <a:srgbClr val="14506F"/>
          </a:solidFill>
          <a:ln w="12700">
            <a:solidFill>
              <a:srgbClr val="14506F"/>
            </a:solidFill>
            <a:prstDash val="solid"/>
          </a:ln>
        </p:spPr>
      </p:sp>
      <p:sp>
        <p:nvSpPr>
          <p:cNvPr id="15" name="Text 13"/>
          <p:cNvSpPr txBox="1"/>
          <p:nvPr/>
        </p:nvSpPr>
        <p:spPr>
          <a:xfrm>
            <a:off x="6949440" y="3840480"/>
            <a:ext cx="146304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Actions</a:t>
            </a:r>
            <a:endParaRPr lang="en-US" sz="1300" dirty="0"/>
          </a:p>
        </p:txBody>
      </p:sp>
      <p:pic>
        <p:nvPicPr>
          <p:cNvPr id="17" name="Picture 16">
            <a:extLst>
              <a:ext uri="{FF2B5EF4-FFF2-40B4-BE49-F238E27FC236}">
                <a16:creationId xmlns:a16="http://schemas.microsoft.com/office/drawing/2014/main" id="{E28D5E0E-AA8E-1F3A-85FC-70624FF12DEA}"/>
              </a:ext>
            </a:extLst>
          </p:cNvPr>
          <p:cNvPicPr>
            <a:picLocks noChangeAspect="1"/>
          </p:cNvPicPr>
          <p:nvPr/>
        </p:nvPicPr>
        <p:blipFill>
          <a:blip r:embed="rId3"/>
          <a:stretch>
            <a:fillRect/>
          </a:stretch>
        </p:blipFill>
        <p:spPr>
          <a:xfrm>
            <a:off x="5006340" y="308610"/>
            <a:ext cx="1657350" cy="1657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marL="0" indent="0">
              <a:buNone/>
            </a:pPr>
            <a:r>
              <a:rPr lang="en-US" sz="2800" b="1" dirty="0">
                <a:solidFill>
                  <a:srgbClr val="0B3C5D"/>
                </a:solidFill>
                <a:latin typeface="Cambria" pitchFamily="34" charset="0"/>
                <a:ea typeface="Cambria" pitchFamily="34" charset="-122"/>
                <a:cs typeface="Cambria" pitchFamily="34" charset="-120"/>
              </a:rPr>
              <a:t>Business overview</a:t>
            </a:r>
            <a:endParaRPr lang="en-US" sz="2800" dirty="0"/>
          </a:p>
        </p:txBody>
      </p:sp>
      <p:sp>
        <p:nvSpPr>
          <p:cNvPr id="3" name="Text 1"/>
          <p:cNvSpPr txBox="1"/>
          <p:nvPr/>
        </p:nvSpPr>
        <p:spPr>
          <a:xfrm>
            <a:off x="548640" y="896112"/>
            <a:ext cx="8046720" cy="36576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Rapid growth has created delivery, inventory and visibility challenges</a:t>
            </a:r>
            <a:endParaRPr lang="en-US" sz="1400" dirty="0"/>
          </a:p>
        </p:txBody>
      </p:sp>
      <p:sp>
        <p:nvSpPr>
          <p:cNvPr id="4" name="Text 2"/>
          <p:cNvSpPr txBox="1"/>
          <p:nvPr/>
        </p:nvSpPr>
        <p:spPr>
          <a:xfrm>
            <a:off x="548640" y="1463040"/>
            <a:ext cx="3749040" cy="118872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SwiftLog Logistics Limited is a fast-growing Nigerian logistics and supply chain company. It runs warehouses, supplier relationships, inventory systems, shipment tracking and nationwide delivery services.</a:t>
            </a:r>
            <a:endParaRPr lang="en-US" sz="1400" dirty="0"/>
          </a:p>
        </p:txBody>
      </p:sp>
      <p:sp>
        <p:nvSpPr>
          <p:cNvPr id="5" name="Text 3"/>
          <p:cNvSpPr txBox="1"/>
          <p:nvPr/>
        </p:nvSpPr>
        <p:spPr>
          <a:xfrm>
            <a:off x="548640" y="2743200"/>
            <a:ext cx="3749040" cy="109728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Expansion has brought operational inefficiencies, delayed deliveries, inventory challenges, supplier performance issues and limited executive visibility into key metrics.</a:t>
            </a:r>
            <a:endParaRPr lang="en-US" sz="1400" dirty="0"/>
          </a:p>
        </p:txBody>
      </p:sp>
      <p:sp>
        <p:nvSpPr>
          <p:cNvPr id="6" name="Text 4"/>
          <p:cNvSpPr txBox="1"/>
          <p:nvPr/>
        </p:nvSpPr>
        <p:spPr>
          <a:xfrm>
            <a:off x="548640" y="4114800"/>
            <a:ext cx="3749040" cy="365760"/>
          </a:xfrm>
          <a:prstGeom prst="rect">
            <a:avLst/>
          </a:prstGeom>
          <a:noFill/>
          <a:ln/>
        </p:spPr>
        <p:txBody>
          <a:bodyPr wrap="square" lIns="0" tIns="0" rIns="0" bIns="0" rtlCol="0" anchor="t"/>
          <a:lstStyle/>
          <a:p>
            <a:pPr marL="0" indent="0">
              <a:buNone/>
            </a:pPr>
            <a:r>
              <a:rPr lang="en-US" sz="1200" i="1" dirty="0">
                <a:solidFill>
                  <a:srgbClr val="5B6475"/>
                </a:solidFill>
                <a:latin typeface="Calibri" pitchFamily="34" charset="0"/>
                <a:ea typeface="Calibri" pitchFamily="34" charset="-122"/>
                <a:cs typeface="Calibri" pitchFamily="34" charset="-120"/>
              </a:rPr>
              <a:t>Data covers 1 January to 8 September 2026</a:t>
            </a:r>
            <a:endParaRPr lang="en-US" sz="1200" dirty="0"/>
          </a:p>
        </p:txBody>
      </p:sp>
      <p:sp>
        <p:nvSpPr>
          <p:cNvPr id="7" name="Shape 5"/>
          <p:cNvSpPr/>
          <p:nvPr/>
        </p:nvSpPr>
        <p:spPr>
          <a:xfrm>
            <a:off x="4663440" y="1463040"/>
            <a:ext cx="1874520" cy="960120"/>
          </a:xfrm>
          <a:prstGeom prst="roundRect">
            <a:avLst>
              <a:gd name="adj" fmla="val 9524"/>
            </a:avLst>
          </a:prstGeom>
          <a:solidFill>
            <a:srgbClr val="0B3C5D"/>
          </a:solidFill>
          <a:ln w="12700">
            <a:solidFill>
              <a:srgbClr val="0B3C5D"/>
            </a:solidFill>
            <a:prstDash val="solid"/>
          </a:ln>
        </p:spPr>
      </p:sp>
      <p:sp>
        <p:nvSpPr>
          <p:cNvPr id="8" name="Text 6"/>
          <p:cNvSpPr txBox="1"/>
          <p:nvPr/>
        </p:nvSpPr>
        <p:spPr>
          <a:xfrm>
            <a:off x="4663440" y="1554480"/>
            <a:ext cx="18745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5,000</a:t>
            </a:r>
            <a:endParaRPr lang="en-US" sz="2800" dirty="0"/>
          </a:p>
        </p:txBody>
      </p:sp>
      <p:sp>
        <p:nvSpPr>
          <p:cNvPr id="9" name="Text 7"/>
          <p:cNvSpPr txBox="1"/>
          <p:nvPr/>
        </p:nvSpPr>
        <p:spPr>
          <a:xfrm>
            <a:off x="4663440" y="2057400"/>
            <a:ext cx="1874520" cy="274320"/>
          </a:xfrm>
          <a:prstGeom prst="rect">
            <a:avLst/>
          </a:prstGeom>
          <a:noFill/>
          <a:ln/>
        </p:spPr>
        <p:txBody>
          <a:bodyPr wrap="square" lIns="0" tIns="0" rIns="0" bIns="0" rtlCol="0" anchor="t"/>
          <a:lstStyle/>
          <a:p>
            <a:pPr marL="0" indent="0" algn="ctr">
              <a:buNone/>
            </a:pPr>
            <a:r>
              <a:rPr lang="en-US" sz="1300" dirty="0">
                <a:solidFill>
                  <a:srgbClr val="CFE0EE"/>
                </a:solidFill>
                <a:latin typeface="Calibri" pitchFamily="34" charset="0"/>
                <a:ea typeface="Calibri" pitchFamily="34" charset="-122"/>
                <a:cs typeface="Calibri" pitchFamily="34" charset="-120"/>
              </a:rPr>
              <a:t>orders</a:t>
            </a:r>
            <a:endParaRPr lang="en-US" sz="1300" dirty="0"/>
          </a:p>
        </p:txBody>
      </p:sp>
      <p:sp>
        <p:nvSpPr>
          <p:cNvPr id="10" name="Shape 8"/>
          <p:cNvSpPr/>
          <p:nvPr/>
        </p:nvSpPr>
        <p:spPr>
          <a:xfrm>
            <a:off x="6675120" y="1463040"/>
            <a:ext cx="1874520" cy="960120"/>
          </a:xfrm>
          <a:prstGeom prst="roundRect">
            <a:avLst>
              <a:gd name="adj" fmla="val 9524"/>
            </a:avLst>
          </a:prstGeom>
          <a:solidFill>
            <a:srgbClr val="0B3C5D"/>
          </a:solidFill>
          <a:ln w="12700">
            <a:solidFill>
              <a:srgbClr val="0B3C5D"/>
            </a:solidFill>
            <a:prstDash val="solid"/>
          </a:ln>
        </p:spPr>
      </p:sp>
      <p:sp>
        <p:nvSpPr>
          <p:cNvPr id="11" name="Text 9"/>
          <p:cNvSpPr txBox="1"/>
          <p:nvPr/>
        </p:nvSpPr>
        <p:spPr>
          <a:xfrm>
            <a:off x="6675120" y="1554480"/>
            <a:ext cx="18745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1,000</a:t>
            </a:r>
            <a:endParaRPr lang="en-US" sz="2800" dirty="0"/>
          </a:p>
        </p:txBody>
      </p:sp>
      <p:sp>
        <p:nvSpPr>
          <p:cNvPr id="12" name="Text 10"/>
          <p:cNvSpPr txBox="1"/>
          <p:nvPr/>
        </p:nvSpPr>
        <p:spPr>
          <a:xfrm>
            <a:off x="6675120" y="2057400"/>
            <a:ext cx="1874520" cy="274320"/>
          </a:xfrm>
          <a:prstGeom prst="rect">
            <a:avLst/>
          </a:prstGeom>
          <a:noFill/>
          <a:ln/>
        </p:spPr>
        <p:txBody>
          <a:bodyPr wrap="square" lIns="0" tIns="0" rIns="0" bIns="0" rtlCol="0" anchor="t"/>
          <a:lstStyle/>
          <a:p>
            <a:pPr marL="0" indent="0" algn="ctr">
              <a:buNone/>
            </a:pPr>
            <a:r>
              <a:rPr lang="en-US" sz="1300" dirty="0">
                <a:solidFill>
                  <a:srgbClr val="CFE0EE"/>
                </a:solidFill>
                <a:latin typeface="Calibri" pitchFamily="34" charset="0"/>
                <a:ea typeface="Calibri" pitchFamily="34" charset="-122"/>
                <a:cs typeface="Calibri" pitchFamily="34" charset="-120"/>
              </a:rPr>
              <a:t>customers</a:t>
            </a:r>
            <a:endParaRPr lang="en-US" sz="1300" dirty="0"/>
          </a:p>
        </p:txBody>
      </p:sp>
      <p:sp>
        <p:nvSpPr>
          <p:cNvPr id="13" name="Shape 11"/>
          <p:cNvSpPr/>
          <p:nvPr/>
        </p:nvSpPr>
        <p:spPr>
          <a:xfrm>
            <a:off x="4663440" y="2560320"/>
            <a:ext cx="1874520" cy="960120"/>
          </a:xfrm>
          <a:prstGeom prst="roundRect">
            <a:avLst>
              <a:gd name="adj" fmla="val 9524"/>
            </a:avLst>
          </a:prstGeom>
          <a:solidFill>
            <a:srgbClr val="0B3C5D"/>
          </a:solidFill>
          <a:ln w="12700">
            <a:solidFill>
              <a:srgbClr val="0B3C5D"/>
            </a:solidFill>
            <a:prstDash val="solid"/>
          </a:ln>
        </p:spPr>
      </p:sp>
      <p:sp>
        <p:nvSpPr>
          <p:cNvPr id="14" name="Text 12"/>
          <p:cNvSpPr txBox="1"/>
          <p:nvPr/>
        </p:nvSpPr>
        <p:spPr>
          <a:xfrm>
            <a:off x="4663440" y="2651760"/>
            <a:ext cx="18745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250</a:t>
            </a:r>
            <a:endParaRPr lang="en-US" sz="2800" dirty="0"/>
          </a:p>
        </p:txBody>
      </p:sp>
      <p:sp>
        <p:nvSpPr>
          <p:cNvPr id="15" name="Text 13"/>
          <p:cNvSpPr txBox="1"/>
          <p:nvPr/>
        </p:nvSpPr>
        <p:spPr>
          <a:xfrm>
            <a:off x="4663440" y="3154680"/>
            <a:ext cx="1874520" cy="274320"/>
          </a:xfrm>
          <a:prstGeom prst="rect">
            <a:avLst/>
          </a:prstGeom>
          <a:noFill/>
          <a:ln/>
        </p:spPr>
        <p:txBody>
          <a:bodyPr wrap="square" lIns="0" tIns="0" rIns="0" bIns="0" rtlCol="0" anchor="t"/>
          <a:lstStyle/>
          <a:p>
            <a:pPr marL="0" indent="0" algn="ctr">
              <a:buNone/>
            </a:pPr>
            <a:r>
              <a:rPr lang="en-US" sz="1300" dirty="0">
                <a:solidFill>
                  <a:srgbClr val="CFE0EE"/>
                </a:solidFill>
                <a:latin typeface="Calibri" pitchFamily="34" charset="0"/>
                <a:ea typeface="Calibri" pitchFamily="34" charset="-122"/>
                <a:cs typeface="Calibri" pitchFamily="34" charset="-120"/>
              </a:rPr>
              <a:t>products</a:t>
            </a:r>
            <a:endParaRPr lang="en-US" sz="1300" dirty="0"/>
          </a:p>
        </p:txBody>
      </p:sp>
      <p:sp>
        <p:nvSpPr>
          <p:cNvPr id="16" name="Shape 14"/>
          <p:cNvSpPr/>
          <p:nvPr/>
        </p:nvSpPr>
        <p:spPr>
          <a:xfrm>
            <a:off x="6675120" y="2560320"/>
            <a:ext cx="1874520" cy="960120"/>
          </a:xfrm>
          <a:prstGeom prst="roundRect">
            <a:avLst>
              <a:gd name="adj" fmla="val 9524"/>
            </a:avLst>
          </a:prstGeom>
          <a:solidFill>
            <a:srgbClr val="0B3C5D"/>
          </a:solidFill>
          <a:ln w="12700">
            <a:solidFill>
              <a:srgbClr val="0B3C5D"/>
            </a:solidFill>
            <a:prstDash val="solid"/>
          </a:ln>
        </p:spPr>
      </p:sp>
      <p:sp>
        <p:nvSpPr>
          <p:cNvPr id="17" name="Text 15"/>
          <p:cNvSpPr txBox="1"/>
          <p:nvPr/>
        </p:nvSpPr>
        <p:spPr>
          <a:xfrm>
            <a:off x="6675120" y="2651760"/>
            <a:ext cx="18745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15</a:t>
            </a:r>
            <a:endParaRPr lang="en-US" sz="2800" dirty="0"/>
          </a:p>
        </p:txBody>
      </p:sp>
      <p:sp>
        <p:nvSpPr>
          <p:cNvPr id="18" name="Text 16"/>
          <p:cNvSpPr txBox="1"/>
          <p:nvPr/>
        </p:nvSpPr>
        <p:spPr>
          <a:xfrm>
            <a:off x="6675120" y="3154680"/>
            <a:ext cx="1874520" cy="274320"/>
          </a:xfrm>
          <a:prstGeom prst="rect">
            <a:avLst/>
          </a:prstGeom>
          <a:noFill/>
          <a:ln/>
        </p:spPr>
        <p:txBody>
          <a:bodyPr wrap="square" lIns="0" tIns="0" rIns="0" bIns="0" rtlCol="0" anchor="t"/>
          <a:lstStyle/>
          <a:p>
            <a:pPr marL="0" indent="0" algn="ctr">
              <a:buNone/>
            </a:pPr>
            <a:r>
              <a:rPr lang="en-US" sz="1300" dirty="0">
                <a:solidFill>
                  <a:srgbClr val="CFE0EE"/>
                </a:solidFill>
                <a:latin typeface="Calibri" pitchFamily="34" charset="0"/>
                <a:ea typeface="Calibri" pitchFamily="34" charset="-122"/>
                <a:cs typeface="Calibri" pitchFamily="34" charset="-120"/>
              </a:rPr>
              <a:t>warehouses</a:t>
            </a:r>
            <a:endParaRPr lang="en-US" sz="1300" dirty="0"/>
          </a:p>
        </p:txBody>
      </p:sp>
      <p:sp>
        <p:nvSpPr>
          <p:cNvPr id="19" name="Shape 17"/>
          <p:cNvSpPr/>
          <p:nvPr/>
        </p:nvSpPr>
        <p:spPr>
          <a:xfrm>
            <a:off x="4663440" y="3657600"/>
            <a:ext cx="1874520" cy="960120"/>
          </a:xfrm>
          <a:prstGeom prst="roundRect">
            <a:avLst>
              <a:gd name="adj" fmla="val 9524"/>
            </a:avLst>
          </a:prstGeom>
          <a:solidFill>
            <a:srgbClr val="0B3C5D"/>
          </a:solidFill>
          <a:ln w="12700">
            <a:solidFill>
              <a:srgbClr val="0B3C5D"/>
            </a:solidFill>
            <a:prstDash val="solid"/>
          </a:ln>
        </p:spPr>
      </p:sp>
      <p:sp>
        <p:nvSpPr>
          <p:cNvPr id="20" name="Text 18"/>
          <p:cNvSpPr txBox="1"/>
          <p:nvPr/>
        </p:nvSpPr>
        <p:spPr>
          <a:xfrm>
            <a:off x="4663440" y="3749040"/>
            <a:ext cx="18745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200</a:t>
            </a:r>
            <a:endParaRPr lang="en-US" sz="2800" dirty="0"/>
          </a:p>
        </p:txBody>
      </p:sp>
      <p:sp>
        <p:nvSpPr>
          <p:cNvPr id="21" name="Text 19"/>
          <p:cNvSpPr txBox="1"/>
          <p:nvPr/>
        </p:nvSpPr>
        <p:spPr>
          <a:xfrm>
            <a:off x="4663440" y="4251960"/>
            <a:ext cx="1874520" cy="274320"/>
          </a:xfrm>
          <a:prstGeom prst="rect">
            <a:avLst/>
          </a:prstGeom>
          <a:noFill/>
          <a:ln/>
        </p:spPr>
        <p:txBody>
          <a:bodyPr wrap="square" lIns="0" tIns="0" rIns="0" bIns="0" rtlCol="0" anchor="t"/>
          <a:lstStyle/>
          <a:p>
            <a:pPr marL="0" indent="0" algn="ctr">
              <a:buNone/>
            </a:pPr>
            <a:r>
              <a:rPr lang="en-US" sz="1300" dirty="0">
                <a:solidFill>
                  <a:srgbClr val="CFE0EE"/>
                </a:solidFill>
                <a:latin typeface="Calibri" pitchFamily="34" charset="0"/>
                <a:ea typeface="Calibri" pitchFamily="34" charset="-122"/>
                <a:cs typeface="Calibri" pitchFamily="34" charset="-120"/>
              </a:rPr>
              <a:t>employees</a:t>
            </a:r>
            <a:endParaRPr lang="en-US" sz="1300" dirty="0"/>
          </a:p>
        </p:txBody>
      </p:sp>
      <p:sp>
        <p:nvSpPr>
          <p:cNvPr id="22" name="Shape 20"/>
          <p:cNvSpPr/>
          <p:nvPr/>
        </p:nvSpPr>
        <p:spPr>
          <a:xfrm>
            <a:off x="6675120" y="3657600"/>
            <a:ext cx="1874520" cy="960120"/>
          </a:xfrm>
          <a:prstGeom prst="roundRect">
            <a:avLst>
              <a:gd name="adj" fmla="val 9524"/>
            </a:avLst>
          </a:prstGeom>
          <a:solidFill>
            <a:srgbClr val="0B3C5D"/>
          </a:solidFill>
          <a:ln w="12700">
            <a:solidFill>
              <a:srgbClr val="0B3C5D"/>
            </a:solidFill>
            <a:prstDash val="solid"/>
          </a:ln>
        </p:spPr>
      </p:sp>
      <p:sp>
        <p:nvSpPr>
          <p:cNvPr id="23" name="Text 21"/>
          <p:cNvSpPr txBox="1"/>
          <p:nvPr/>
        </p:nvSpPr>
        <p:spPr>
          <a:xfrm>
            <a:off x="6675120" y="3749040"/>
            <a:ext cx="187452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150</a:t>
            </a:r>
            <a:endParaRPr lang="en-US" sz="2800" dirty="0"/>
          </a:p>
        </p:txBody>
      </p:sp>
      <p:sp>
        <p:nvSpPr>
          <p:cNvPr id="24" name="Text 22"/>
          <p:cNvSpPr txBox="1"/>
          <p:nvPr/>
        </p:nvSpPr>
        <p:spPr>
          <a:xfrm>
            <a:off x="6675120" y="4251960"/>
            <a:ext cx="1874520" cy="274320"/>
          </a:xfrm>
          <a:prstGeom prst="rect">
            <a:avLst/>
          </a:prstGeom>
          <a:noFill/>
          <a:ln/>
        </p:spPr>
        <p:txBody>
          <a:bodyPr wrap="square" lIns="0" tIns="0" rIns="0" bIns="0" rtlCol="0" anchor="t"/>
          <a:lstStyle/>
          <a:p>
            <a:pPr marL="0" indent="0" algn="ctr">
              <a:buNone/>
            </a:pPr>
            <a:r>
              <a:rPr lang="en-US" sz="1300" dirty="0">
                <a:solidFill>
                  <a:srgbClr val="CFE0EE"/>
                </a:solidFill>
                <a:latin typeface="Calibri" pitchFamily="34" charset="0"/>
                <a:ea typeface="Calibri" pitchFamily="34" charset="-122"/>
                <a:cs typeface="Calibri" pitchFamily="34" charset="-120"/>
              </a:rPr>
              <a:t>suppliers</a:t>
            </a:r>
            <a:endParaRPr lang="en-US" sz="1300" dirty="0"/>
          </a:p>
        </p:txBody>
      </p:sp>
      <p:pic>
        <p:nvPicPr>
          <p:cNvPr id="25" name="Picture 24">
            <a:extLst>
              <a:ext uri="{FF2B5EF4-FFF2-40B4-BE49-F238E27FC236}">
                <a16:creationId xmlns:a16="http://schemas.microsoft.com/office/drawing/2014/main" id="{333A4352-622C-A65D-EA25-369083281DFF}"/>
              </a:ext>
            </a:extLst>
          </p:cNvPr>
          <p:cNvPicPr>
            <a:picLocks noChangeAspect="1"/>
          </p:cNvPicPr>
          <p:nvPr/>
        </p:nvPicPr>
        <p:blipFill>
          <a:blip r:embed="rId3"/>
          <a:stretch>
            <a:fillRect/>
          </a:stretch>
        </p:blipFill>
        <p:spPr>
          <a:xfrm>
            <a:off x="7239000" y="-78105"/>
            <a:ext cx="1657350" cy="16573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marL="0" indent="0">
              <a:buNone/>
            </a:pPr>
            <a:r>
              <a:rPr lang="en-US" sz="2800" b="1" dirty="0">
                <a:solidFill>
                  <a:srgbClr val="0B3C5D"/>
                </a:solidFill>
                <a:latin typeface="Cambria" pitchFamily="34" charset="0"/>
                <a:ea typeface="Cambria" pitchFamily="34" charset="-122"/>
                <a:cs typeface="Cambria" pitchFamily="34" charset="-120"/>
              </a:rPr>
              <a:t>Project objectives</a:t>
            </a:r>
            <a:endParaRPr lang="en-US" sz="2800" dirty="0"/>
          </a:p>
        </p:txBody>
      </p:sp>
      <p:sp>
        <p:nvSpPr>
          <p:cNvPr id="3" name="Text 1"/>
          <p:cNvSpPr txBox="1"/>
          <p:nvPr/>
        </p:nvSpPr>
        <p:spPr>
          <a:xfrm>
            <a:off x="548640" y="896112"/>
            <a:ext cx="8046720" cy="36576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One solution to monitor performance and support decisions</a:t>
            </a:r>
            <a:endParaRPr lang="en-US" sz="1400" dirty="0"/>
          </a:p>
        </p:txBody>
      </p:sp>
      <p:sp>
        <p:nvSpPr>
          <p:cNvPr id="4" name="Shape 2"/>
          <p:cNvSpPr/>
          <p:nvPr/>
        </p:nvSpPr>
        <p:spPr>
          <a:xfrm>
            <a:off x="548640" y="1554480"/>
            <a:ext cx="1874520" cy="1417320"/>
          </a:xfrm>
          <a:prstGeom prst="roundRect">
            <a:avLst>
              <a:gd name="adj" fmla="val 6452"/>
            </a:avLst>
          </a:prstGeom>
          <a:solidFill>
            <a:srgbClr val="EEF3F8"/>
          </a:solidFill>
          <a:ln w="12700">
            <a:solidFill>
              <a:srgbClr val="EEF3F8"/>
            </a:solidFill>
            <a:prstDash val="solid"/>
          </a:ln>
        </p:spPr>
      </p:sp>
      <p:sp>
        <p:nvSpPr>
          <p:cNvPr id="5" name="Shape 3"/>
          <p:cNvSpPr/>
          <p:nvPr/>
        </p:nvSpPr>
        <p:spPr>
          <a:xfrm>
            <a:off x="685800" y="1691640"/>
            <a:ext cx="411480" cy="411480"/>
          </a:xfrm>
          <a:prstGeom prst="ellipse">
            <a:avLst/>
          </a:prstGeom>
          <a:solidFill>
            <a:srgbClr val="F28C28"/>
          </a:solidFill>
          <a:ln w="12700">
            <a:solidFill>
              <a:srgbClr val="F28C28"/>
            </a:solidFill>
            <a:prstDash val="solid"/>
          </a:ln>
        </p:spPr>
      </p:sp>
      <p:sp>
        <p:nvSpPr>
          <p:cNvPr id="6" name="Text 4"/>
          <p:cNvSpPr txBox="1"/>
          <p:nvPr/>
        </p:nvSpPr>
        <p:spPr>
          <a:xfrm>
            <a:off x="685800" y="16916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685800" y="2240280"/>
            <a:ext cx="1645920" cy="640080"/>
          </a:xfrm>
          <a:prstGeom prst="rect">
            <a:avLst/>
          </a:prstGeom>
          <a:noFill/>
          <a:ln/>
        </p:spPr>
        <p:txBody>
          <a:bodyPr wrap="square" lIns="0" tIns="0" rIns="0" bIns="0" rtlCol="0" anchor="t"/>
          <a:lstStyle/>
          <a:p>
            <a:pPr marL="0" indent="0">
              <a:buNone/>
            </a:pPr>
            <a:r>
              <a:rPr lang="en-US" sz="1400" b="1" dirty="0">
                <a:solidFill>
                  <a:srgbClr val="0B3C5D"/>
                </a:solidFill>
                <a:latin typeface="Calibri" pitchFamily="34" charset="0"/>
                <a:ea typeface="Calibri" pitchFamily="34" charset="-122"/>
                <a:cs typeface="Calibri" pitchFamily="34" charset="-120"/>
              </a:rPr>
              <a:t>Monitor business performance</a:t>
            </a:r>
            <a:endParaRPr lang="en-US" sz="1400" dirty="0"/>
          </a:p>
        </p:txBody>
      </p:sp>
      <p:sp>
        <p:nvSpPr>
          <p:cNvPr id="8" name="Shape 6"/>
          <p:cNvSpPr/>
          <p:nvPr/>
        </p:nvSpPr>
        <p:spPr>
          <a:xfrm>
            <a:off x="2560320" y="1554480"/>
            <a:ext cx="1874520" cy="1417320"/>
          </a:xfrm>
          <a:prstGeom prst="roundRect">
            <a:avLst>
              <a:gd name="adj" fmla="val 6452"/>
            </a:avLst>
          </a:prstGeom>
          <a:solidFill>
            <a:srgbClr val="EEF3F8"/>
          </a:solidFill>
          <a:ln w="12700">
            <a:solidFill>
              <a:srgbClr val="EEF3F8"/>
            </a:solidFill>
            <a:prstDash val="solid"/>
          </a:ln>
        </p:spPr>
      </p:sp>
      <p:sp>
        <p:nvSpPr>
          <p:cNvPr id="9" name="Shape 7"/>
          <p:cNvSpPr/>
          <p:nvPr/>
        </p:nvSpPr>
        <p:spPr>
          <a:xfrm>
            <a:off x="2697480" y="1691640"/>
            <a:ext cx="411480" cy="411480"/>
          </a:xfrm>
          <a:prstGeom prst="ellipse">
            <a:avLst/>
          </a:prstGeom>
          <a:solidFill>
            <a:srgbClr val="F28C28"/>
          </a:solidFill>
          <a:ln w="12700">
            <a:solidFill>
              <a:srgbClr val="F28C28"/>
            </a:solidFill>
            <a:prstDash val="solid"/>
          </a:ln>
        </p:spPr>
      </p:sp>
      <p:sp>
        <p:nvSpPr>
          <p:cNvPr id="10" name="Text 8"/>
          <p:cNvSpPr txBox="1"/>
          <p:nvPr/>
        </p:nvSpPr>
        <p:spPr>
          <a:xfrm>
            <a:off x="2697480" y="16916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2697480" y="2240280"/>
            <a:ext cx="1645920" cy="640080"/>
          </a:xfrm>
          <a:prstGeom prst="rect">
            <a:avLst/>
          </a:prstGeom>
          <a:noFill/>
          <a:ln/>
        </p:spPr>
        <p:txBody>
          <a:bodyPr wrap="square" lIns="0" tIns="0" rIns="0" bIns="0" rtlCol="0" anchor="t"/>
          <a:lstStyle/>
          <a:p>
            <a:pPr marL="0" indent="0">
              <a:buNone/>
            </a:pPr>
            <a:r>
              <a:rPr lang="en-US" sz="1400" b="1" dirty="0">
                <a:solidFill>
                  <a:srgbClr val="0B3C5D"/>
                </a:solidFill>
                <a:latin typeface="Calibri" pitchFamily="34" charset="0"/>
                <a:ea typeface="Calibri" pitchFamily="34" charset="-122"/>
                <a:cs typeface="Calibri" pitchFamily="34" charset="-120"/>
              </a:rPr>
              <a:t>Improve delivery efficiency</a:t>
            </a:r>
            <a:endParaRPr lang="en-US" sz="1400" dirty="0"/>
          </a:p>
        </p:txBody>
      </p:sp>
      <p:sp>
        <p:nvSpPr>
          <p:cNvPr id="12" name="Shape 10"/>
          <p:cNvSpPr/>
          <p:nvPr/>
        </p:nvSpPr>
        <p:spPr>
          <a:xfrm>
            <a:off x="4572000" y="1554480"/>
            <a:ext cx="1874520" cy="1417320"/>
          </a:xfrm>
          <a:prstGeom prst="roundRect">
            <a:avLst>
              <a:gd name="adj" fmla="val 6452"/>
            </a:avLst>
          </a:prstGeom>
          <a:solidFill>
            <a:srgbClr val="EEF3F8"/>
          </a:solidFill>
          <a:ln w="12700">
            <a:solidFill>
              <a:srgbClr val="EEF3F8"/>
            </a:solidFill>
            <a:prstDash val="solid"/>
          </a:ln>
        </p:spPr>
      </p:sp>
      <p:sp>
        <p:nvSpPr>
          <p:cNvPr id="13" name="Shape 11"/>
          <p:cNvSpPr/>
          <p:nvPr/>
        </p:nvSpPr>
        <p:spPr>
          <a:xfrm>
            <a:off x="4709160" y="1691640"/>
            <a:ext cx="411480" cy="411480"/>
          </a:xfrm>
          <a:prstGeom prst="ellipse">
            <a:avLst/>
          </a:prstGeom>
          <a:solidFill>
            <a:srgbClr val="F28C28"/>
          </a:solidFill>
          <a:ln w="12700">
            <a:solidFill>
              <a:srgbClr val="F28C28"/>
            </a:solidFill>
            <a:prstDash val="solid"/>
          </a:ln>
        </p:spPr>
      </p:sp>
      <p:sp>
        <p:nvSpPr>
          <p:cNvPr id="14" name="Text 12"/>
          <p:cNvSpPr txBox="1"/>
          <p:nvPr/>
        </p:nvSpPr>
        <p:spPr>
          <a:xfrm>
            <a:off x="4709160" y="16916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4709160" y="2240280"/>
            <a:ext cx="1645920" cy="640080"/>
          </a:xfrm>
          <a:prstGeom prst="rect">
            <a:avLst/>
          </a:prstGeom>
          <a:noFill/>
          <a:ln/>
        </p:spPr>
        <p:txBody>
          <a:bodyPr wrap="square" lIns="0" tIns="0" rIns="0" bIns="0" rtlCol="0" anchor="t"/>
          <a:lstStyle/>
          <a:p>
            <a:pPr marL="0" indent="0">
              <a:buNone/>
            </a:pPr>
            <a:r>
              <a:rPr lang="en-US" sz="1400" b="1" dirty="0">
                <a:solidFill>
                  <a:srgbClr val="0B3C5D"/>
                </a:solidFill>
                <a:latin typeface="Calibri" pitchFamily="34" charset="0"/>
                <a:ea typeface="Calibri" pitchFamily="34" charset="-122"/>
                <a:cs typeface="Calibri" pitchFamily="34" charset="-120"/>
              </a:rPr>
              <a:t>Reduce operational costs</a:t>
            </a:r>
            <a:endParaRPr lang="en-US" sz="1400" dirty="0"/>
          </a:p>
        </p:txBody>
      </p:sp>
      <p:sp>
        <p:nvSpPr>
          <p:cNvPr id="16" name="Shape 14"/>
          <p:cNvSpPr/>
          <p:nvPr/>
        </p:nvSpPr>
        <p:spPr>
          <a:xfrm>
            <a:off x="6583680" y="1554480"/>
            <a:ext cx="1874520" cy="1417320"/>
          </a:xfrm>
          <a:prstGeom prst="roundRect">
            <a:avLst>
              <a:gd name="adj" fmla="val 6452"/>
            </a:avLst>
          </a:prstGeom>
          <a:solidFill>
            <a:srgbClr val="EEF3F8"/>
          </a:solidFill>
          <a:ln w="12700">
            <a:solidFill>
              <a:srgbClr val="EEF3F8"/>
            </a:solidFill>
            <a:prstDash val="solid"/>
          </a:ln>
        </p:spPr>
      </p:sp>
      <p:sp>
        <p:nvSpPr>
          <p:cNvPr id="17" name="Shape 15"/>
          <p:cNvSpPr/>
          <p:nvPr/>
        </p:nvSpPr>
        <p:spPr>
          <a:xfrm>
            <a:off x="6720840" y="1691640"/>
            <a:ext cx="411480" cy="411480"/>
          </a:xfrm>
          <a:prstGeom prst="ellipse">
            <a:avLst/>
          </a:prstGeom>
          <a:solidFill>
            <a:srgbClr val="F28C28"/>
          </a:solidFill>
          <a:ln w="12700">
            <a:solidFill>
              <a:srgbClr val="F28C28"/>
            </a:solidFill>
            <a:prstDash val="solid"/>
          </a:ln>
        </p:spPr>
      </p:sp>
      <p:sp>
        <p:nvSpPr>
          <p:cNvPr id="18" name="Text 16"/>
          <p:cNvSpPr txBox="1"/>
          <p:nvPr/>
        </p:nvSpPr>
        <p:spPr>
          <a:xfrm>
            <a:off x="6720840" y="16916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6720840" y="2240280"/>
            <a:ext cx="1645920" cy="640080"/>
          </a:xfrm>
          <a:prstGeom prst="rect">
            <a:avLst/>
          </a:prstGeom>
          <a:noFill/>
          <a:ln/>
        </p:spPr>
        <p:txBody>
          <a:bodyPr wrap="square" lIns="0" tIns="0" rIns="0" bIns="0" rtlCol="0" anchor="t"/>
          <a:lstStyle/>
          <a:p>
            <a:pPr marL="0" indent="0">
              <a:buNone/>
            </a:pPr>
            <a:r>
              <a:rPr lang="en-US" sz="1400" b="1" dirty="0">
                <a:solidFill>
                  <a:srgbClr val="0B3C5D"/>
                </a:solidFill>
                <a:latin typeface="Calibri" pitchFamily="34" charset="0"/>
                <a:ea typeface="Calibri" pitchFamily="34" charset="-122"/>
                <a:cs typeface="Calibri" pitchFamily="34" charset="-120"/>
              </a:rPr>
              <a:t>Improve inventory management</a:t>
            </a:r>
            <a:endParaRPr lang="en-US" sz="1400" dirty="0"/>
          </a:p>
        </p:txBody>
      </p:sp>
      <p:sp>
        <p:nvSpPr>
          <p:cNvPr id="20" name="Shape 18"/>
          <p:cNvSpPr/>
          <p:nvPr/>
        </p:nvSpPr>
        <p:spPr>
          <a:xfrm>
            <a:off x="548640" y="3154680"/>
            <a:ext cx="1874520" cy="1417320"/>
          </a:xfrm>
          <a:prstGeom prst="roundRect">
            <a:avLst>
              <a:gd name="adj" fmla="val 6452"/>
            </a:avLst>
          </a:prstGeom>
          <a:solidFill>
            <a:srgbClr val="EEF3F8"/>
          </a:solidFill>
          <a:ln w="12700">
            <a:solidFill>
              <a:srgbClr val="EEF3F8"/>
            </a:solidFill>
            <a:prstDash val="solid"/>
          </a:ln>
        </p:spPr>
      </p:sp>
      <p:sp>
        <p:nvSpPr>
          <p:cNvPr id="21" name="Shape 19"/>
          <p:cNvSpPr/>
          <p:nvPr/>
        </p:nvSpPr>
        <p:spPr>
          <a:xfrm>
            <a:off x="685800" y="3291840"/>
            <a:ext cx="411480" cy="411480"/>
          </a:xfrm>
          <a:prstGeom prst="ellipse">
            <a:avLst/>
          </a:prstGeom>
          <a:solidFill>
            <a:srgbClr val="F28C28"/>
          </a:solidFill>
          <a:ln w="12700">
            <a:solidFill>
              <a:srgbClr val="F28C28"/>
            </a:solidFill>
            <a:prstDash val="solid"/>
          </a:ln>
        </p:spPr>
      </p:sp>
      <p:sp>
        <p:nvSpPr>
          <p:cNvPr id="22" name="Text 20"/>
          <p:cNvSpPr txBox="1"/>
          <p:nvPr/>
        </p:nvSpPr>
        <p:spPr>
          <a:xfrm>
            <a:off x="685800" y="3291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685800" y="3840480"/>
            <a:ext cx="1645920" cy="640080"/>
          </a:xfrm>
          <a:prstGeom prst="rect">
            <a:avLst/>
          </a:prstGeom>
          <a:noFill/>
          <a:ln/>
        </p:spPr>
        <p:txBody>
          <a:bodyPr wrap="square" lIns="0" tIns="0" rIns="0" bIns="0" rtlCol="0" anchor="t"/>
          <a:lstStyle/>
          <a:p>
            <a:pPr marL="0" indent="0">
              <a:buNone/>
            </a:pPr>
            <a:r>
              <a:rPr lang="en-US" sz="1400" b="1" dirty="0">
                <a:solidFill>
                  <a:srgbClr val="0B3C5D"/>
                </a:solidFill>
                <a:latin typeface="Calibri" pitchFamily="34" charset="0"/>
                <a:ea typeface="Calibri" pitchFamily="34" charset="-122"/>
                <a:cs typeface="Calibri" pitchFamily="34" charset="-120"/>
              </a:rPr>
              <a:t>Evaluate supplier performance</a:t>
            </a:r>
            <a:endParaRPr lang="en-US" sz="1400" dirty="0"/>
          </a:p>
        </p:txBody>
      </p:sp>
      <p:sp>
        <p:nvSpPr>
          <p:cNvPr id="24" name="Shape 22"/>
          <p:cNvSpPr/>
          <p:nvPr/>
        </p:nvSpPr>
        <p:spPr>
          <a:xfrm>
            <a:off x="2560320" y="3154680"/>
            <a:ext cx="1874520" cy="1417320"/>
          </a:xfrm>
          <a:prstGeom prst="roundRect">
            <a:avLst>
              <a:gd name="adj" fmla="val 6452"/>
            </a:avLst>
          </a:prstGeom>
          <a:solidFill>
            <a:srgbClr val="EEF3F8"/>
          </a:solidFill>
          <a:ln w="12700">
            <a:solidFill>
              <a:srgbClr val="EEF3F8"/>
            </a:solidFill>
            <a:prstDash val="solid"/>
          </a:ln>
        </p:spPr>
      </p:sp>
      <p:sp>
        <p:nvSpPr>
          <p:cNvPr id="25" name="Shape 23"/>
          <p:cNvSpPr/>
          <p:nvPr/>
        </p:nvSpPr>
        <p:spPr>
          <a:xfrm>
            <a:off x="2697480" y="3291840"/>
            <a:ext cx="411480" cy="411480"/>
          </a:xfrm>
          <a:prstGeom prst="ellipse">
            <a:avLst/>
          </a:prstGeom>
          <a:solidFill>
            <a:srgbClr val="F28C28"/>
          </a:solidFill>
          <a:ln w="12700">
            <a:solidFill>
              <a:srgbClr val="F28C28"/>
            </a:solidFill>
            <a:prstDash val="solid"/>
          </a:ln>
        </p:spPr>
      </p:sp>
      <p:sp>
        <p:nvSpPr>
          <p:cNvPr id="26" name="Text 24"/>
          <p:cNvSpPr txBox="1"/>
          <p:nvPr/>
        </p:nvSpPr>
        <p:spPr>
          <a:xfrm>
            <a:off x="2697480" y="3291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txBox="1"/>
          <p:nvPr/>
        </p:nvSpPr>
        <p:spPr>
          <a:xfrm>
            <a:off x="2697480" y="3840480"/>
            <a:ext cx="1645920" cy="640080"/>
          </a:xfrm>
          <a:prstGeom prst="rect">
            <a:avLst/>
          </a:prstGeom>
          <a:noFill/>
          <a:ln/>
        </p:spPr>
        <p:txBody>
          <a:bodyPr wrap="square" lIns="0" tIns="0" rIns="0" bIns="0" rtlCol="0" anchor="t"/>
          <a:lstStyle/>
          <a:p>
            <a:pPr marL="0" indent="0">
              <a:buNone/>
            </a:pPr>
            <a:r>
              <a:rPr lang="en-US" sz="1400" b="1" dirty="0">
                <a:solidFill>
                  <a:srgbClr val="0B3C5D"/>
                </a:solidFill>
                <a:latin typeface="Calibri" pitchFamily="34" charset="0"/>
                <a:ea typeface="Calibri" pitchFamily="34" charset="-122"/>
                <a:cs typeface="Calibri" pitchFamily="34" charset="-120"/>
              </a:rPr>
              <a:t>Improve warehouse operations</a:t>
            </a:r>
            <a:endParaRPr lang="en-US" sz="1400" dirty="0"/>
          </a:p>
        </p:txBody>
      </p:sp>
      <p:sp>
        <p:nvSpPr>
          <p:cNvPr id="28" name="Shape 26"/>
          <p:cNvSpPr/>
          <p:nvPr/>
        </p:nvSpPr>
        <p:spPr>
          <a:xfrm>
            <a:off x="4572000" y="3154680"/>
            <a:ext cx="1874520" cy="1417320"/>
          </a:xfrm>
          <a:prstGeom prst="roundRect">
            <a:avLst>
              <a:gd name="adj" fmla="val 6452"/>
            </a:avLst>
          </a:prstGeom>
          <a:solidFill>
            <a:srgbClr val="EEF3F8"/>
          </a:solidFill>
          <a:ln w="12700">
            <a:solidFill>
              <a:srgbClr val="EEF3F8"/>
            </a:solidFill>
            <a:prstDash val="solid"/>
          </a:ln>
        </p:spPr>
      </p:sp>
      <p:sp>
        <p:nvSpPr>
          <p:cNvPr id="29" name="Shape 27"/>
          <p:cNvSpPr/>
          <p:nvPr/>
        </p:nvSpPr>
        <p:spPr>
          <a:xfrm>
            <a:off x="4709160" y="3291840"/>
            <a:ext cx="411480" cy="411480"/>
          </a:xfrm>
          <a:prstGeom prst="ellipse">
            <a:avLst/>
          </a:prstGeom>
          <a:solidFill>
            <a:srgbClr val="F28C28"/>
          </a:solidFill>
          <a:ln w="12700">
            <a:solidFill>
              <a:srgbClr val="F28C28"/>
            </a:solidFill>
            <a:prstDash val="solid"/>
          </a:ln>
        </p:spPr>
      </p:sp>
      <p:sp>
        <p:nvSpPr>
          <p:cNvPr id="30" name="Text 28"/>
          <p:cNvSpPr txBox="1"/>
          <p:nvPr/>
        </p:nvSpPr>
        <p:spPr>
          <a:xfrm>
            <a:off x="4709160" y="3291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1" name="Text 29"/>
          <p:cNvSpPr txBox="1"/>
          <p:nvPr/>
        </p:nvSpPr>
        <p:spPr>
          <a:xfrm>
            <a:off x="4709160" y="3840480"/>
            <a:ext cx="1645920" cy="640080"/>
          </a:xfrm>
          <a:prstGeom prst="rect">
            <a:avLst/>
          </a:prstGeom>
          <a:noFill/>
          <a:ln/>
        </p:spPr>
        <p:txBody>
          <a:bodyPr wrap="square" lIns="0" tIns="0" rIns="0" bIns="0" rtlCol="0" anchor="t"/>
          <a:lstStyle/>
          <a:p>
            <a:pPr marL="0" indent="0">
              <a:buNone/>
            </a:pPr>
            <a:r>
              <a:rPr lang="en-US" sz="1400" b="1" dirty="0">
                <a:solidFill>
                  <a:srgbClr val="0B3C5D"/>
                </a:solidFill>
                <a:latin typeface="Calibri" pitchFamily="34" charset="0"/>
                <a:ea typeface="Calibri" pitchFamily="34" charset="-122"/>
                <a:cs typeface="Calibri" pitchFamily="34" charset="-120"/>
              </a:rPr>
              <a:t>Reduce product returns</a:t>
            </a:r>
            <a:endParaRPr lang="en-US" sz="1400" dirty="0"/>
          </a:p>
        </p:txBody>
      </p:sp>
      <p:sp>
        <p:nvSpPr>
          <p:cNvPr id="32" name="Shape 30"/>
          <p:cNvSpPr/>
          <p:nvPr/>
        </p:nvSpPr>
        <p:spPr>
          <a:xfrm>
            <a:off x="6583680" y="3154680"/>
            <a:ext cx="1874520" cy="1417320"/>
          </a:xfrm>
          <a:prstGeom prst="roundRect">
            <a:avLst>
              <a:gd name="adj" fmla="val 6452"/>
            </a:avLst>
          </a:prstGeom>
          <a:solidFill>
            <a:srgbClr val="EEF3F8"/>
          </a:solidFill>
          <a:ln w="12700">
            <a:solidFill>
              <a:srgbClr val="EEF3F8"/>
            </a:solidFill>
            <a:prstDash val="solid"/>
          </a:ln>
        </p:spPr>
      </p:sp>
      <p:sp>
        <p:nvSpPr>
          <p:cNvPr id="33" name="Shape 31"/>
          <p:cNvSpPr/>
          <p:nvPr/>
        </p:nvSpPr>
        <p:spPr>
          <a:xfrm>
            <a:off x="6720840" y="3291840"/>
            <a:ext cx="411480" cy="411480"/>
          </a:xfrm>
          <a:prstGeom prst="ellipse">
            <a:avLst/>
          </a:prstGeom>
          <a:solidFill>
            <a:srgbClr val="F28C28"/>
          </a:solidFill>
          <a:ln w="12700">
            <a:solidFill>
              <a:srgbClr val="F28C28"/>
            </a:solidFill>
            <a:prstDash val="solid"/>
          </a:ln>
        </p:spPr>
      </p:sp>
      <p:sp>
        <p:nvSpPr>
          <p:cNvPr id="34" name="Text 32"/>
          <p:cNvSpPr txBox="1"/>
          <p:nvPr/>
        </p:nvSpPr>
        <p:spPr>
          <a:xfrm>
            <a:off x="6720840" y="329184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5" name="Text 33"/>
          <p:cNvSpPr txBox="1"/>
          <p:nvPr/>
        </p:nvSpPr>
        <p:spPr>
          <a:xfrm>
            <a:off x="6720840" y="3840480"/>
            <a:ext cx="1645920" cy="640080"/>
          </a:xfrm>
          <a:prstGeom prst="rect">
            <a:avLst/>
          </a:prstGeom>
          <a:noFill/>
          <a:ln/>
        </p:spPr>
        <p:txBody>
          <a:bodyPr wrap="square" lIns="0" tIns="0" rIns="0" bIns="0" rtlCol="0" anchor="t"/>
          <a:lstStyle/>
          <a:p>
            <a:pPr marL="0" indent="0">
              <a:buNone/>
            </a:pPr>
            <a:r>
              <a:rPr lang="en-US" sz="1400" b="1" dirty="0">
                <a:solidFill>
                  <a:srgbClr val="0B3C5D"/>
                </a:solidFill>
                <a:latin typeface="Calibri" pitchFamily="34" charset="0"/>
                <a:ea typeface="Calibri" pitchFamily="34" charset="-122"/>
                <a:cs typeface="Calibri" pitchFamily="34" charset="-120"/>
              </a:rPr>
              <a:t>Support executive decision-making</a:t>
            </a:r>
            <a:endParaRPr lang="en-US" sz="1400" dirty="0"/>
          </a:p>
        </p:txBody>
      </p:sp>
      <p:pic>
        <p:nvPicPr>
          <p:cNvPr id="36" name="Picture 35">
            <a:extLst>
              <a:ext uri="{FF2B5EF4-FFF2-40B4-BE49-F238E27FC236}">
                <a16:creationId xmlns:a16="http://schemas.microsoft.com/office/drawing/2014/main" id="{415FF939-F0A8-72AE-FB1A-E2CB535BA845}"/>
              </a:ext>
            </a:extLst>
          </p:cNvPr>
          <p:cNvPicPr>
            <a:picLocks noChangeAspect="1"/>
          </p:cNvPicPr>
          <p:nvPr/>
        </p:nvPicPr>
        <p:blipFill>
          <a:blip r:embed="rId3"/>
          <a:stretch>
            <a:fillRect/>
          </a:stretch>
        </p:blipFill>
        <p:spPr>
          <a:xfrm>
            <a:off x="7239000" y="-85725"/>
            <a:ext cx="1657350" cy="16573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marL="0" indent="0">
              <a:buNone/>
            </a:pPr>
            <a:r>
              <a:rPr lang="en-US" sz="2800" b="1" dirty="0">
                <a:solidFill>
                  <a:srgbClr val="0B3C5D"/>
                </a:solidFill>
                <a:latin typeface="Cambria" pitchFamily="34" charset="0"/>
                <a:ea typeface="Cambria" pitchFamily="34" charset="-122"/>
                <a:cs typeface="Cambria" pitchFamily="34" charset="-120"/>
              </a:rPr>
              <a:t>Data preparation process</a:t>
            </a:r>
            <a:endParaRPr lang="en-US" sz="2800" dirty="0"/>
          </a:p>
        </p:txBody>
      </p:sp>
      <p:sp>
        <p:nvSpPr>
          <p:cNvPr id="3" name="Text 1"/>
          <p:cNvSpPr txBox="1"/>
          <p:nvPr/>
        </p:nvSpPr>
        <p:spPr>
          <a:xfrm>
            <a:off x="548640" y="896112"/>
            <a:ext cx="8046720" cy="36576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From 11 raw files to a trusted star-schema model</a:t>
            </a:r>
            <a:endParaRPr lang="en-US" sz="1400" dirty="0"/>
          </a:p>
        </p:txBody>
      </p:sp>
      <p:sp>
        <p:nvSpPr>
          <p:cNvPr id="4" name="Shape 2"/>
          <p:cNvSpPr/>
          <p:nvPr/>
        </p:nvSpPr>
        <p:spPr>
          <a:xfrm>
            <a:off x="548640" y="1463040"/>
            <a:ext cx="1874520" cy="2103120"/>
          </a:xfrm>
          <a:prstGeom prst="roundRect">
            <a:avLst>
              <a:gd name="adj" fmla="val 4878"/>
            </a:avLst>
          </a:prstGeom>
          <a:solidFill>
            <a:srgbClr val="EEF3F8"/>
          </a:solidFill>
          <a:ln w="12700">
            <a:solidFill>
              <a:srgbClr val="EEF3F8"/>
            </a:solidFill>
            <a:prstDash val="solid"/>
          </a:ln>
        </p:spPr>
      </p:sp>
      <p:sp>
        <p:nvSpPr>
          <p:cNvPr id="5" name="Shape 3"/>
          <p:cNvSpPr/>
          <p:nvPr/>
        </p:nvSpPr>
        <p:spPr>
          <a:xfrm>
            <a:off x="685800" y="1600200"/>
            <a:ext cx="457200" cy="457200"/>
          </a:xfrm>
          <a:prstGeom prst="ellipse">
            <a:avLst/>
          </a:prstGeom>
          <a:solidFill>
            <a:srgbClr val="F28C28"/>
          </a:solidFill>
          <a:ln w="12700">
            <a:solidFill>
              <a:srgbClr val="F28C28"/>
            </a:solidFill>
            <a:prstDash val="solid"/>
          </a:ln>
        </p:spPr>
      </p:sp>
      <p:sp>
        <p:nvSpPr>
          <p:cNvPr id="6" name="Text 4"/>
          <p:cNvSpPr txBox="1"/>
          <p:nvPr/>
        </p:nvSpPr>
        <p:spPr>
          <a:xfrm>
            <a:off x="685800" y="1600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685800" y="2148840"/>
            <a:ext cx="1645920" cy="320040"/>
          </a:xfrm>
          <a:prstGeom prst="rect">
            <a:avLst/>
          </a:prstGeom>
          <a:noFill/>
          <a:ln/>
        </p:spPr>
        <p:txBody>
          <a:bodyPr wrap="square" lIns="0" tIns="0" rIns="0" bIns="0" rtlCol="0" anchor="t"/>
          <a:lstStyle/>
          <a:p>
            <a:pPr marL="0" indent="0">
              <a:buNone/>
            </a:pPr>
            <a:r>
              <a:rPr lang="en-US" sz="1600" b="1" dirty="0">
                <a:solidFill>
                  <a:srgbClr val="0B3C5D"/>
                </a:solidFill>
                <a:latin typeface="Calibri" pitchFamily="34" charset="0"/>
                <a:ea typeface="Calibri" pitchFamily="34" charset="-122"/>
                <a:cs typeface="Calibri" pitchFamily="34" charset="-120"/>
              </a:rPr>
              <a:t>Import</a:t>
            </a:r>
            <a:endParaRPr lang="en-US" sz="1600" dirty="0"/>
          </a:p>
        </p:txBody>
      </p:sp>
      <p:sp>
        <p:nvSpPr>
          <p:cNvPr id="8" name="Text 6"/>
          <p:cNvSpPr txBox="1"/>
          <p:nvPr/>
        </p:nvSpPr>
        <p:spPr>
          <a:xfrm>
            <a:off x="685800" y="2514600"/>
            <a:ext cx="1645920" cy="100584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11 CSV files loaded into Power BI</a:t>
            </a:r>
            <a:endParaRPr lang="en-US" sz="1200" dirty="0"/>
          </a:p>
        </p:txBody>
      </p:sp>
      <p:sp>
        <p:nvSpPr>
          <p:cNvPr id="9" name="Shape 7"/>
          <p:cNvSpPr/>
          <p:nvPr/>
        </p:nvSpPr>
        <p:spPr>
          <a:xfrm>
            <a:off x="2560320" y="1463040"/>
            <a:ext cx="1874520" cy="2103120"/>
          </a:xfrm>
          <a:prstGeom prst="roundRect">
            <a:avLst>
              <a:gd name="adj" fmla="val 4878"/>
            </a:avLst>
          </a:prstGeom>
          <a:solidFill>
            <a:srgbClr val="EEF3F8"/>
          </a:solidFill>
          <a:ln w="12700">
            <a:solidFill>
              <a:srgbClr val="EEF3F8"/>
            </a:solidFill>
            <a:prstDash val="solid"/>
          </a:ln>
        </p:spPr>
      </p:sp>
      <p:sp>
        <p:nvSpPr>
          <p:cNvPr id="10" name="Shape 8"/>
          <p:cNvSpPr/>
          <p:nvPr/>
        </p:nvSpPr>
        <p:spPr>
          <a:xfrm>
            <a:off x="2697480" y="1600200"/>
            <a:ext cx="457200" cy="457200"/>
          </a:xfrm>
          <a:prstGeom prst="ellipse">
            <a:avLst/>
          </a:prstGeom>
          <a:solidFill>
            <a:srgbClr val="F28C28"/>
          </a:solidFill>
          <a:ln w="12700">
            <a:solidFill>
              <a:srgbClr val="F28C28"/>
            </a:solidFill>
            <a:prstDash val="solid"/>
          </a:ln>
        </p:spPr>
      </p:sp>
      <p:sp>
        <p:nvSpPr>
          <p:cNvPr id="11" name="Text 9"/>
          <p:cNvSpPr txBox="1"/>
          <p:nvPr/>
        </p:nvSpPr>
        <p:spPr>
          <a:xfrm>
            <a:off x="2697480" y="1600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2697480" y="2148840"/>
            <a:ext cx="1645920" cy="320040"/>
          </a:xfrm>
          <a:prstGeom prst="rect">
            <a:avLst/>
          </a:prstGeom>
          <a:noFill/>
          <a:ln/>
        </p:spPr>
        <p:txBody>
          <a:bodyPr wrap="square" lIns="0" tIns="0" rIns="0" bIns="0" rtlCol="0" anchor="t"/>
          <a:lstStyle/>
          <a:p>
            <a:pPr marL="0" indent="0">
              <a:buNone/>
            </a:pPr>
            <a:r>
              <a:rPr lang="en-US" sz="1600" b="1" dirty="0">
                <a:solidFill>
                  <a:srgbClr val="0B3C5D"/>
                </a:solidFill>
                <a:latin typeface="Calibri" pitchFamily="34" charset="0"/>
                <a:ea typeface="Calibri" pitchFamily="34" charset="-122"/>
                <a:cs typeface="Calibri" pitchFamily="34" charset="-120"/>
              </a:rPr>
              <a:t>Clean</a:t>
            </a:r>
            <a:endParaRPr lang="en-US" sz="1600" dirty="0"/>
          </a:p>
        </p:txBody>
      </p:sp>
      <p:sp>
        <p:nvSpPr>
          <p:cNvPr id="13" name="Text 11"/>
          <p:cNvSpPr txBox="1"/>
          <p:nvPr/>
        </p:nvSpPr>
        <p:spPr>
          <a:xfrm>
            <a:off x="2697480" y="2514600"/>
            <a:ext cx="1645920" cy="100584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Types, trimmed text, US date parsing, duplicate checks, delivery status merged, stock movements summed</a:t>
            </a:r>
            <a:endParaRPr lang="en-US" sz="1200" dirty="0"/>
          </a:p>
        </p:txBody>
      </p:sp>
      <p:sp>
        <p:nvSpPr>
          <p:cNvPr id="14" name="Shape 12"/>
          <p:cNvSpPr/>
          <p:nvPr/>
        </p:nvSpPr>
        <p:spPr>
          <a:xfrm>
            <a:off x="4572000" y="1463040"/>
            <a:ext cx="1874520" cy="2103120"/>
          </a:xfrm>
          <a:prstGeom prst="roundRect">
            <a:avLst>
              <a:gd name="adj" fmla="val 4878"/>
            </a:avLst>
          </a:prstGeom>
          <a:solidFill>
            <a:srgbClr val="EEF3F8"/>
          </a:solidFill>
          <a:ln w="12700">
            <a:solidFill>
              <a:srgbClr val="EEF3F8"/>
            </a:solidFill>
            <a:prstDash val="solid"/>
          </a:ln>
        </p:spPr>
      </p:sp>
      <p:sp>
        <p:nvSpPr>
          <p:cNvPr id="15" name="Shape 13"/>
          <p:cNvSpPr/>
          <p:nvPr/>
        </p:nvSpPr>
        <p:spPr>
          <a:xfrm>
            <a:off x="4709160" y="1600200"/>
            <a:ext cx="457200" cy="457200"/>
          </a:xfrm>
          <a:prstGeom prst="ellipse">
            <a:avLst/>
          </a:prstGeom>
          <a:solidFill>
            <a:srgbClr val="F28C28"/>
          </a:solidFill>
          <a:ln w="12700">
            <a:solidFill>
              <a:srgbClr val="F28C28"/>
            </a:solidFill>
            <a:prstDash val="solid"/>
          </a:ln>
        </p:spPr>
      </p:sp>
      <p:sp>
        <p:nvSpPr>
          <p:cNvPr id="16" name="Text 14"/>
          <p:cNvSpPr txBox="1"/>
          <p:nvPr/>
        </p:nvSpPr>
        <p:spPr>
          <a:xfrm>
            <a:off x="4709160" y="1600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4709160" y="2148840"/>
            <a:ext cx="1645920" cy="320040"/>
          </a:xfrm>
          <a:prstGeom prst="rect">
            <a:avLst/>
          </a:prstGeom>
          <a:noFill/>
          <a:ln/>
        </p:spPr>
        <p:txBody>
          <a:bodyPr wrap="square" lIns="0" tIns="0" rIns="0" bIns="0" rtlCol="0" anchor="t"/>
          <a:lstStyle/>
          <a:p>
            <a:pPr marL="0" indent="0">
              <a:buNone/>
            </a:pPr>
            <a:r>
              <a:rPr lang="en-US" sz="1600" b="1" dirty="0">
                <a:solidFill>
                  <a:srgbClr val="0B3C5D"/>
                </a:solidFill>
                <a:latin typeface="Calibri" pitchFamily="34" charset="0"/>
                <a:ea typeface="Calibri" pitchFamily="34" charset="-122"/>
                <a:cs typeface="Calibri" pitchFamily="34" charset="-120"/>
              </a:rPr>
              <a:t>Model</a:t>
            </a:r>
            <a:endParaRPr lang="en-US" sz="1600" dirty="0"/>
          </a:p>
        </p:txBody>
      </p:sp>
      <p:sp>
        <p:nvSpPr>
          <p:cNvPr id="18" name="Text 16"/>
          <p:cNvSpPr txBox="1"/>
          <p:nvPr/>
        </p:nvSpPr>
        <p:spPr>
          <a:xfrm>
            <a:off x="4709160" y="2514600"/>
            <a:ext cx="1645920" cy="100584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Star schema: 5 dimension and 6 fact tables, related on keys</a:t>
            </a:r>
            <a:endParaRPr lang="en-US" sz="1200" dirty="0"/>
          </a:p>
        </p:txBody>
      </p:sp>
      <p:sp>
        <p:nvSpPr>
          <p:cNvPr id="19" name="Shape 17"/>
          <p:cNvSpPr/>
          <p:nvPr/>
        </p:nvSpPr>
        <p:spPr>
          <a:xfrm>
            <a:off x="6583680" y="1463040"/>
            <a:ext cx="1874520" cy="2103120"/>
          </a:xfrm>
          <a:prstGeom prst="roundRect">
            <a:avLst>
              <a:gd name="adj" fmla="val 4878"/>
            </a:avLst>
          </a:prstGeom>
          <a:solidFill>
            <a:srgbClr val="EEF3F8"/>
          </a:solidFill>
          <a:ln w="12700">
            <a:solidFill>
              <a:srgbClr val="EEF3F8"/>
            </a:solidFill>
            <a:prstDash val="solid"/>
          </a:ln>
        </p:spPr>
      </p:sp>
      <p:sp>
        <p:nvSpPr>
          <p:cNvPr id="20" name="Shape 18"/>
          <p:cNvSpPr/>
          <p:nvPr/>
        </p:nvSpPr>
        <p:spPr>
          <a:xfrm>
            <a:off x="6720840" y="1600200"/>
            <a:ext cx="457200" cy="457200"/>
          </a:xfrm>
          <a:prstGeom prst="ellipse">
            <a:avLst/>
          </a:prstGeom>
          <a:solidFill>
            <a:srgbClr val="F28C28"/>
          </a:solidFill>
          <a:ln w="12700">
            <a:solidFill>
              <a:srgbClr val="F28C28"/>
            </a:solidFill>
            <a:prstDash val="solid"/>
          </a:ln>
        </p:spPr>
      </p:sp>
      <p:sp>
        <p:nvSpPr>
          <p:cNvPr id="21" name="Text 19"/>
          <p:cNvSpPr txBox="1"/>
          <p:nvPr/>
        </p:nvSpPr>
        <p:spPr>
          <a:xfrm>
            <a:off x="6720840" y="1600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6720840" y="2148840"/>
            <a:ext cx="1645920" cy="320040"/>
          </a:xfrm>
          <a:prstGeom prst="rect">
            <a:avLst/>
          </a:prstGeom>
          <a:noFill/>
          <a:ln/>
        </p:spPr>
        <p:txBody>
          <a:bodyPr wrap="square" lIns="0" tIns="0" rIns="0" bIns="0" rtlCol="0" anchor="t"/>
          <a:lstStyle/>
          <a:p>
            <a:pPr marL="0" indent="0">
              <a:buNone/>
            </a:pPr>
            <a:r>
              <a:rPr lang="en-US" sz="1600" b="1" dirty="0">
                <a:solidFill>
                  <a:srgbClr val="0B3C5D"/>
                </a:solidFill>
                <a:latin typeface="Calibri" pitchFamily="34" charset="0"/>
                <a:ea typeface="Calibri" pitchFamily="34" charset="-122"/>
                <a:cs typeface="Calibri" pitchFamily="34" charset="-120"/>
              </a:rPr>
              <a:t>Measure</a:t>
            </a:r>
            <a:endParaRPr lang="en-US" sz="1600" dirty="0"/>
          </a:p>
        </p:txBody>
      </p:sp>
      <p:sp>
        <p:nvSpPr>
          <p:cNvPr id="23" name="Text 21"/>
          <p:cNvSpPr txBox="1"/>
          <p:nvPr/>
        </p:nvSpPr>
        <p:spPr>
          <a:xfrm>
            <a:off x="6720840" y="2514600"/>
            <a:ext cx="1645920" cy="1005840"/>
          </a:xfrm>
          <a:prstGeom prst="rect">
            <a:avLst/>
          </a:prstGeom>
          <a:noFill/>
          <a:ln/>
        </p:spPr>
        <p:txBody>
          <a:bodyPr wrap="square" lIns="0" tIns="0" rIns="0" bIns="0" rtlCol="0" anchor="t"/>
          <a:lstStyle/>
          <a:p>
            <a:pPr marL="0" indent="0">
              <a:buNone/>
            </a:pPr>
            <a:r>
              <a:rPr lang="en-US" sz="1200" dirty="0">
                <a:solidFill>
                  <a:srgbClr val="1F2937"/>
                </a:solidFill>
                <a:latin typeface="Calibri" pitchFamily="34" charset="0"/>
                <a:ea typeface="Calibri" pitchFamily="34" charset="-122"/>
                <a:cs typeface="Calibri" pitchFamily="34" charset="-120"/>
              </a:rPr>
              <a:t>DAX measures for every required KPI plus What-If parameters</a:t>
            </a:r>
            <a:endParaRPr lang="en-US" sz="1200" dirty="0"/>
          </a:p>
        </p:txBody>
      </p:sp>
      <p:sp>
        <p:nvSpPr>
          <p:cNvPr id="24" name="Text 22"/>
          <p:cNvSpPr txBox="1"/>
          <p:nvPr/>
        </p:nvSpPr>
        <p:spPr>
          <a:xfrm>
            <a:off x="548640" y="3749040"/>
            <a:ext cx="8046720" cy="274320"/>
          </a:xfrm>
          <a:prstGeom prst="rect">
            <a:avLst/>
          </a:prstGeom>
          <a:noFill/>
          <a:ln/>
        </p:spPr>
        <p:txBody>
          <a:bodyPr wrap="square" lIns="0" tIns="0" rIns="0" bIns="0" rtlCol="0" anchor="t"/>
          <a:lstStyle/>
          <a:p>
            <a:pPr marL="0" indent="0">
              <a:buNone/>
            </a:pPr>
            <a:r>
              <a:rPr lang="en-US" sz="1300" b="1" dirty="0">
                <a:solidFill>
                  <a:srgbClr val="0B3C5D"/>
                </a:solidFill>
                <a:latin typeface="Calibri" pitchFamily="34" charset="0"/>
                <a:ea typeface="Calibri" pitchFamily="34" charset="-122"/>
                <a:cs typeface="Calibri" pitchFamily="34" charset="-120"/>
              </a:rPr>
              <a:t>Key assumptions (documented in the report)</a:t>
            </a:r>
            <a:endParaRPr lang="en-US" sz="1300" dirty="0"/>
          </a:p>
        </p:txBody>
      </p:sp>
      <p:sp>
        <p:nvSpPr>
          <p:cNvPr id="25" name="Shape 23"/>
          <p:cNvSpPr/>
          <p:nvPr/>
        </p:nvSpPr>
        <p:spPr>
          <a:xfrm>
            <a:off x="548640" y="4114800"/>
            <a:ext cx="1874520" cy="594360"/>
          </a:xfrm>
          <a:prstGeom prst="roundRect">
            <a:avLst>
              <a:gd name="adj" fmla="val 15385"/>
            </a:avLst>
          </a:prstGeom>
          <a:solidFill>
            <a:srgbClr val="CFE0EE"/>
          </a:solidFill>
          <a:ln w="12700">
            <a:solidFill>
              <a:srgbClr val="CFE0EE"/>
            </a:solidFill>
            <a:prstDash val="solid"/>
          </a:ln>
        </p:spPr>
      </p:sp>
      <p:sp>
        <p:nvSpPr>
          <p:cNvPr id="26" name="Text 24"/>
          <p:cNvSpPr txBox="1"/>
          <p:nvPr/>
        </p:nvSpPr>
        <p:spPr>
          <a:xfrm>
            <a:off x="621792" y="4114800"/>
            <a:ext cx="1737360" cy="594360"/>
          </a:xfrm>
          <a:prstGeom prst="rect">
            <a:avLst/>
          </a:prstGeom>
          <a:noFill/>
          <a:ln/>
        </p:spPr>
        <p:txBody>
          <a:bodyPr wrap="square" lIns="0" tIns="0" rIns="0" bIns="0" rtlCol="0" anchor="ctr"/>
          <a:lstStyle/>
          <a:p>
            <a:pPr marL="0" indent="0" algn="ctr">
              <a:buNone/>
            </a:pPr>
            <a:r>
              <a:rPr lang="en-US" sz="1150" dirty="0">
                <a:solidFill>
                  <a:srgbClr val="0B3C5D"/>
                </a:solidFill>
                <a:latin typeface="Calibri" pitchFamily="34" charset="0"/>
                <a:ea typeface="Calibri" pitchFamily="34" charset="-122"/>
                <a:cs typeface="Calibri" pitchFamily="34" charset="-120"/>
              </a:rPr>
              <a:t>On Time = 0 to 2 days late</a:t>
            </a:r>
            <a:endParaRPr lang="en-US" sz="1150" dirty="0"/>
          </a:p>
        </p:txBody>
      </p:sp>
      <p:sp>
        <p:nvSpPr>
          <p:cNvPr id="27" name="Shape 25"/>
          <p:cNvSpPr/>
          <p:nvPr/>
        </p:nvSpPr>
        <p:spPr>
          <a:xfrm>
            <a:off x="2560320" y="4114800"/>
            <a:ext cx="1874520" cy="594360"/>
          </a:xfrm>
          <a:prstGeom prst="roundRect">
            <a:avLst>
              <a:gd name="adj" fmla="val 15385"/>
            </a:avLst>
          </a:prstGeom>
          <a:solidFill>
            <a:srgbClr val="CFE0EE"/>
          </a:solidFill>
          <a:ln w="12700">
            <a:solidFill>
              <a:srgbClr val="CFE0EE"/>
            </a:solidFill>
            <a:prstDash val="solid"/>
          </a:ln>
        </p:spPr>
      </p:sp>
      <p:sp>
        <p:nvSpPr>
          <p:cNvPr id="28" name="Text 26"/>
          <p:cNvSpPr txBox="1"/>
          <p:nvPr/>
        </p:nvSpPr>
        <p:spPr>
          <a:xfrm>
            <a:off x="2633472" y="4114800"/>
            <a:ext cx="1737360" cy="594360"/>
          </a:xfrm>
          <a:prstGeom prst="rect">
            <a:avLst/>
          </a:prstGeom>
          <a:noFill/>
          <a:ln/>
        </p:spPr>
        <p:txBody>
          <a:bodyPr wrap="square" lIns="0" tIns="0" rIns="0" bIns="0" rtlCol="0" anchor="ctr"/>
          <a:lstStyle/>
          <a:p>
            <a:pPr marL="0" indent="0" algn="ctr">
              <a:buNone/>
            </a:pPr>
            <a:r>
              <a:rPr lang="en-US" sz="1150" dirty="0">
                <a:solidFill>
                  <a:srgbClr val="0B3C5D"/>
                </a:solidFill>
                <a:latin typeface="Calibri" pitchFamily="34" charset="0"/>
                <a:ea typeface="Calibri" pitchFamily="34" charset="-122"/>
                <a:cs typeface="Calibri" pitchFamily="34" charset="-120"/>
              </a:rPr>
              <a:t>Revenue = Delivered orders</a:t>
            </a:r>
            <a:endParaRPr lang="en-US" sz="1150" dirty="0"/>
          </a:p>
        </p:txBody>
      </p:sp>
      <p:sp>
        <p:nvSpPr>
          <p:cNvPr id="29" name="Shape 27"/>
          <p:cNvSpPr/>
          <p:nvPr/>
        </p:nvSpPr>
        <p:spPr>
          <a:xfrm>
            <a:off x="4572000" y="4114800"/>
            <a:ext cx="1874520" cy="594360"/>
          </a:xfrm>
          <a:prstGeom prst="roundRect">
            <a:avLst>
              <a:gd name="adj" fmla="val 15385"/>
            </a:avLst>
          </a:prstGeom>
          <a:solidFill>
            <a:srgbClr val="CFE0EE"/>
          </a:solidFill>
          <a:ln w="12700">
            <a:solidFill>
              <a:srgbClr val="CFE0EE"/>
            </a:solidFill>
            <a:prstDash val="solid"/>
          </a:ln>
        </p:spPr>
      </p:sp>
      <p:sp>
        <p:nvSpPr>
          <p:cNvPr id="30" name="Text 28"/>
          <p:cNvSpPr txBox="1"/>
          <p:nvPr/>
        </p:nvSpPr>
        <p:spPr>
          <a:xfrm>
            <a:off x="4645152" y="4114800"/>
            <a:ext cx="1737360" cy="594360"/>
          </a:xfrm>
          <a:prstGeom prst="rect">
            <a:avLst/>
          </a:prstGeom>
          <a:noFill/>
          <a:ln/>
        </p:spPr>
        <p:txBody>
          <a:bodyPr wrap="square" lIns="0" tIns="0" rIns="0" bIns="0" rtlCol="0" anchor="ctr"/>
          <a:lstStyle/>
          <a:p>
            <a:pPr marL="0" indent="0" algn="ctr">
              <a:buNone/>
            </a:pPr>
            <a:r>
              <a:rPr lang="en-US" sz="1150" dirty="0">
                <a:solidFill>
                  <a:srgbClr val="0B3C5D"/>
                </a:solidFill>
                <a:latin typeface="Calibri" pitchFamily="34" charset="0"/>
                <a:ea typeface="Calibri" pitchFamily="34" charset="-122"/>
                <a:cs typeface="Calibri" pitchFamily="34" charset="-120"/>
              </a:rPr>
              <a:t>Suppliers table has no link to products</a:t>
            </a:r>
            <a:endParaRPr lang="en-US" sz="1150" dirty="0"/>
          </a:p>
        </p:txBody>
      </p:sp>
      <p:sp>
        <p:nvSpPr>
          <p:cNvPr id="31" name="Shape 29"/>
          <p:cNvSpPr/>
          <p:nvPr/>
        </p:nvSpPr>
        <p:spPr>
          <a:xfrm>
            <a:off x="6583680" y="4114800"/>
            <a:ext cx="1874520" cy="594360"/>
          </a:xfrm>
          <a:prstGeom prst="roundRect">
            <a:avLst>
              <a:gd name="adj" fmla="val 15385"/>
            </a:avLst>
          </a:prstGeom>
          <a:solidFill>
            <a:srgbClr val="CFE0EE"/>
          </a:solidFill>
          <a:ln w="12700">
            <a:solidFill>
              <a:srgbClr val="CFE0EE"/>
            </a:solidFill>
            <a:prstDash val="solid"/>
          </a:ln>
        </p:spPr>
      </p:sp>
      <p:sp>
        <p:nvSpPr>
          <p:cNvPr id="32" name="Text 30"/>
          <p:cNvSpPr txBox="1"/>
          <p:nvPr/>
        </p:nvSpPr>
        <p:spPr>
          <a:xfrm>
            <a:off x="6656832" y="4114800"/>
            <a:ext cx="1737360" cy="594360"/>
          </a:xfrm>
          <a:prstGeom prst="rect">
            <a:avLst/>
          </a:prstGeom>
          <a:noFill/>
          <a:ln/>
        </p:spPr>
        <p:txBody>
          <a:bodyPr wrap="square" lIns="0" tIns="0" rIns="0" bIns="0" rtlCol="0" anchor="ctr"/>
          <a:lstStyle/>
          <a:p>
            <a:pPr marL="0" indent="0" algn="ctr">
              <a:buNone/>
            </a:pPr>
            <a:r>
              <a:rPr lang="en-US" sz="1150" dirty="0">
                <a:solidFill>
                  <a:srgbClr val="0B3C5D"/>
                </a:solidFill>
                <a:latin typeface="Calibri" pitchFamily="34" charset="0"/>
                <a:ea typeface="Calibri" pitchFamily="34" charset="-122"/>
                <a:cs typeface="Calibri" pitchFamily="34" charset="-120"/>
              </a:rPr>
              <a:t>Warehouse capacity is estimated</a:t>
            </a:r>
            <a:endParaRPr lang="en-US" sz="1150" dirty="0"/>
          </a:p>
        </p:txBody>
      </p:sp>
      <p:pic>
        <p:nvPicPr>
          <p:cNvPr id="33" name="Picture 32">
            <a:extLst>
              <a:ext uri="{FF2B5EF4-FFF2-40B4-BE49-F238E27FC236}">
                <a16:creationId xmlns:a16="http://schemas.microsoft.com/office/drawing/2014/main" id="{6F0FE19E-3A80-F279-E5C5-F01900079EB7}"/>
              </a:ext>
            </a:extLst>
          </p:cNvPr>
          <p:cNvPicPr>
            <a:picLocks noChangeAspect="1"/>
          </p:cNvPicPr>
          <p:nvPr/>
        </p:nvPicPr>
        <p:blipFill>
          <a:blip r:embed="rId3"/>
          <a:stretch>
            <a:fillRect/>
          </a:stretch>
        </p:blipFill>
        <p:spPr>
          <a:xfrm>
            <a:off x="7239000" y="-85725"/>
            <a:ext cx="1657350" cy="1657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marL="0" indent="0">
              <a:buNone/>
            </a:pPr>
            <a:r>
              <a:rPr lang="en-US" sz="2800" b="1" dirty="0">
                <a:solidFill>
                  <a:srgbClr val="0B3C5D"/>
                </a:solidFill>
                <a:latin typeface="Cambria" pitchFamily="34" charset="0"/>
                <a:ea typeface="Cambria" pitchFamily="34" charset="-122"/>
                <a:cs typeface="Cambria" pitchFamily="34" charset="-120"/>
              </a:rPr>
              <a:t>Dashboard demonstration</a:t>
            </a:r>
            <a:endParaRPr lang="en-US" sz="2800" dirty="0"/>
          </a:p>
        </p:txBody>
      </p:sp>
      <p:sp>
        <p:nvSpPr>
          <p:cNvPr id="3" name="Text 1"/>
          <p:cNvSpPr txBox="1"/>
          <p:nvPr/>
        </p:nvSpPr>
        <p:spPr>
          <a:xfrm>
            <a:off x="548640" y="896112"/>
            <a:ext cx="8046720" cy="36576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Five interactive pages tell the story from overview to action</a:t>
            </a:r>
            <a:endParaRPr lang="en-US" sz="1400" dirty="0"/>
          </a:p>
        </p:txBody>
      </p:sp>
      <p:sp>
        <p:nvSpPr>
          <p:cNvPr id="4" name="Shape 2"/>
          <p:cNvSpPr/>
          <p:nvPr/>
        </p:nvSpPr>
        <p:spPr>
          <a:xfrm>
            <a:off x="548640" y="1417320"/>
            <a:ext cx="4754880" cy="475488"/>
          </a:xfrm>
          <a:prstGeom prst="roundRect">
            <a:avLst>
              <a:gd name="adj" fmla="val 19231"/>
            </a:avLst>
          </a:prstGeom>
          <a:solidFill>
            <a:srgbClr val="EEF3F8"/>
          </a:solidFill>
          <a:ln w="12700">
            <a:solidFill>
              <a:srgbClr val="EEF3F8"/>
            </a:solidFill>
            <a:prstDash val="solid"/>
          </a:ln>
        </p:spPr>
      </p:sp>
      <p:sp>
        <p:nvSpPr>
          <p:cNvPr id="5" name="Shape 3"/>
          <p:cNvSpPr/>
          <p:nvPr/>
        </p:nvSpPr>
        <p:spPr>
          <a:xfrm>
            <a:off x="640080" y="1490472"/>
            <a:ext cx="329184" cy="329184"/>
          </a:xfrm>
          <a:prstGeom prst="ellipse">
            <a:avLst/>
          </a:prstGeom>
          <a:solidFill>
            <a:srgbClr val="0B3C5D"/>
          </a:solidFill>
          <a:ln w="12700">
            <a:solidFill>
              <a:srgbClr val="0B3C5D"/>
            </a:solidFill>
            <a:prstDash val="solid"/>
          </a:ln>
        </p:spPr>
      </p:sp>
      <p:sp>
        <p:nvSpPr>
          <p:cNvPr id="6" name="Text 4"/>
          <p:cNvSpPr txBox="1"/>
          <p:nvPr/>
        </p:nvSpPr>
        <p:spPr>
          <a:xfrm>
            <a:off x="640080" y="14904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097280" y="1435608"/>
            <a:ext cx="1828800" cy="438912"/>
          </a:xfrm>
          <a:prstGeom prst="rect">
            <a:avLst/>
          </a:prstGeom>
          <a:noFill/>
          <a:ln/>
        </p:spPr>
        <p:txBody>
          <a:bodyPr wrap="square" lIns="0" tIns="0" rIns="0" bIns="0" rtlCol="0" anchor="ctr"/>
          <a:lstStyle/>
          <a:p>
            <a:pPr marL="0" indent="0">
              <a:buNone/>
            </a:pPr>
            <a:r>
              <a:rPr lang="en-US" sz="1300" b="1" dirty="0">
                <a:solidFill>
                  <a:srgbClr val="0B3C5D"/>
                </a:solidFill>
                <a:latin typeface="Calibri" pitchFamily="34" charset="0"/>
                <a:ea typeface="Calibri" pitchFamily="34" charset="-122"/>
                <a:cs typeface="Calibri" pitchFamily="34" charset="-120"/>
              </a:rPr>
              <a:t>Executive Overview</a:t>
            </a:r>
            <a:endParaRPr lang="en-US" sz="1300" dirty="0"/>
          </a:p>
        </p:txBody>
      </p:sp>
      <p:sp>
        <p:nvSpPr>
          <p:cNvPr id="8" name="Text 6"/>
          <p:cNvSpPr txBox="1"/>
          <p:nvPr/>
        </p:nvSpPr>
        <p:spPr>
          <a:xfrm>
            <a:off x="2880360" y="1435608"/>
            <a:ext cx="2377440" cy="438912"/>
          </a:xfrm>
          <a:prstGeom prst="rect">
            <a:avLst/>
          </a:prstGeom>
          <a:noFill/>
          <a:ln/>
        </p:spPr>
        <p:txBody>
          <a:bodyPr wrap="square" lIns="0" tIns="0" rIns="0" bIns="0" rtlCol="0" anchor="ctr"/>
          <a:lstStyle/>
          <a:p>
            <a:pPr marL="0" indent="0">
              <a:buNone/>
            </a:pPr>
            <a:r>
              <a:rPr lang="en-US" sz="1050" dirty="0">
                <a:solidFill>
                  <a:srgbClr val="5B6475"/>
                </a:solidFill>
                <a:latin typeface="Calibri" pitchFamily="34" charset="0"/>
                <a:ea typeface="Calibri" pitchFamily="34" charset="-122"/>
                <a:cs typeface="Calibri" pitchFamily="34" charset="-120"/>
              </a:rPr>
              <a:t>Revenue, orders, delivery status and returns</a:t>
            </a:r>
            <a:endParaRPr lang="en-US" sz="1050" dirty="0"/>
          </a:p>
        </p:txBody>
      </p:sp>
      <p:sp>
        <p:nvSpPr>
          <p:cNvPr id="9" name="Shape 7"/>
          <p:cNvSpPr/>
          <p:nvPr/>
        </p:nvSpPr>
        <p:spPr>
          <a:xfrm>
            <a:off x="548640" y="1984248"/>
            <a:ext cx="4754880" cy="475488"/>
          </a:xfrm>
          <a:prstGeom prst="roundRect">
            <a:avLst>
              <a:gd name="adj" fmla="val 19231"/>
            </a:avLst>
          </a:prstGeom>
          <a:solidFill>
            <a:srgbClr val="EEF3F8"/>
          </a:solidFill>
          <a:ln w="12700">
            <a:solidFill>
              <a:srgbClr val="EEF3F8"/>
            </a:solidFill>
            <a:prstDash val="solid"/>
          </a:ln>
        </p:spPr>
      </p:sp>
      <p:sp>
        <p:nvSpPr>
          <p:cNvPr id="10" name="Shape 8"/>
          <p:cNvSpPr/>
          <p:nvPr/>
        </p:nvSpPr>
        <p:spPr>
          <a:xfrm>
            <a:off x="640080" y="2057400"/>
            <a:ext cx="329184" cy="329184"/>
          </a:xfrm>
          <a:prstGeom prst="ellipse">
            <a:avLst/>
          </a:prstGeom>
          <a:solidFill>
            <a:srgbClr val="0B3C5D"/>
          </a:solidFill>
          <a:ln w="12700">
            <a:solidFill>
              <a:srgbClr val="0B3C5D"/>
            </a:solidFill>
            <a:prstDash val="solid"/>
          </a:ln>
        </p:spPr>
      </p:sp>
      <p:sp>
        <p:nvSpPr>
          <p:cNvPr id="11" name="Text 9"/>
          <p:cNvSpPr txBox="1"/>
          <p:nvPr/>
        </p:nvSpPr>
        <p:spPr>
          <a:xfrm>
            <a:off x="640080" y="205740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097280" y="2002536"/>
            <a:ext cx="1828800" cy="438912"/>
          </a:xfrm>
          <a:prstGeom prst="rect">
            <a:avLst/>
          </a:prstGeom>
          <a:noFill/>
          <a:ln/>
        </p:spPr>
        <p:txBody>
          <a:bodyPr wrap="square" lIns="0" tIns="0" rIns="0" bIns="0" rtlCol="0" anchor="ctr"/>
          <a:lstStyle/>
          <a:p>
            <a:pPr marL="0" indent="0">
              <a:buNone/>
            </a:pPr>
            <a:r>
              <a:rPr lang="en-US" sz="1300" b="1" dirty="0">
                <a:solidFill>
                  <a:srgbClr val="0B3C5D"/>
                </a:solidFill>
                <a:latin typeface="Calibri" pitchFamily="34" charset="0"/>
                <a:ea typeface="Calibri" pitchFamily="34" charset="-122"/>
                <a:cs typeface="Calibri" pitchFamily="34" charset="-120"/>
              </a:rPr>
              <a:t>Customers Analysis</a:t>
            </a:r>
            <a:endParaRPr lang="en-US" sz="1300" dirty="0"/>
          </a:p>
        </p:txBody>
      </p:sp>
      <p:sp>
        <p:nvSpPr>
          <p:cNvPr id="13" name="Text 11"/>
          <p:cNvSpPr txBox="1"/>
          <p:nvPr/>
        </p:nvSpPr>
        <p:spPr>
          <a:xfrm>
            <a:off x="2880360" y="2002536"/>
            <a:ext cx="2377440" cy="438912"/>
          </a:xfrm>
          <a:prstGeom prst="rect">
            <a:avLst/>
          </a:prstGeom>
          <a:noFill/>
          <a:ln/>
        </p:spPr>
        <p:txBody>
          <a:bodyPr wrap="square" lIns="0" tIns="0" rIns="0" bIns="0" rtlCol="0" anchor="ctr"/>
          <a:lstStyle/>
          <a:p>
            <a:pPr marL="0" indent="0">
              <a:buNone/>
            </a:pPr>
            <a:r>
              <a:rPr lang="en-US" sz="1050" dirty="0">
                <a:solidFill>
                  <a:srgbClr val="5B6475"/>
                </a:solidFill>
                <a:latin typeface="Calibri" pitchFamily="34" charset="0"/>
                <a:ea typeface="Calibri" pitchFamily="34" charset="-122"/>
                <a:cs typeface="Calibri" pitchFamily="34" charset="-120"/>
              </a:rPr>
              <a:t>Top customers, growth, order frequency, geography</a:t>
            </a:r>
            <a:endParaRPr lang="en-US" sz="1050" dirty="0"/>
          </a:p>
        </p:txBody>
      </p:sp>
      <p:sp>
        <p:nvSpPr>
          <p:cNvPr id="14" name="Shape 12"/>
          <p:cNvSpPr/>
          <p:nvPr/>
        </p:nvSpPr>
        <p:spPr>
          <a:xfrm>
            <a:off x="548640" y="2551176"/>
            <a:ext cx="4754880" cy="475488"/>
          </a:xfrm>
          <a:prstGeom prst="roundRect">
            <a:avLst>
              <a:gd name="adj" fmla="val 19231"/>
            </a:avLst>
          </a:prstGeom>
          <a:solidFill>
            <a:srgbClr val="EEF3F8"/>
          </a:solidFill>
          <a:ln w="12700">
            <a:solidFill>
              <a:srgbClr val="EEF3F8"/>
            </a:solidFill>
            <a:prstDash val="solid"/>
          </a:ln>
        </p:spPr>
      </p:sp>
      <p:sp>
        <p:nvSpPr>
          <p:cNvPr id="15" name="Shape 13"/>
          <p:cNvSpPr/>
          <p:nvPr/>
        </p:nvSpPr>
        <p:spPr>
          <a:xfrm>
            <a:off x="640080" y="2624328"/>
            <a:ext cx="329184" cy="329184"/>
          </a:xfrm>
          <a:prstGeom prst="ellipse">
            <a:avLst/>
          </a:prstGeom>
          <a:solidFill>
            <a:srgbClr val="0B3C5D"/>
          </a:solidFill>
          <a:ln w="12700">
            <a:solidFill>
              <a:srgbClr val="0B3C5D"/>
            </a:solidFill>
            <a:prstDash val="solid"/>
          </a:ln>
        </p:spPr>
      </p:sp>
      <p:sp>
        <p:nvSpPr>
          <p:cNvPr id="16" name="Text 14"/>
          <p:cNvSpPr txBox="1"/>
          <p:nvPr/>
        </p:nvSpPr>
        <p:spPr>
          <a:xfrm>
            <a:off x="640080" y="2624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097280" y="2569464"/>
            <a:ext cx="1828800" cy="438912"/>
          </a:xfrm>
          <a:prstGeom prst="rect">
            <a:avLst/>
          </a:prstGeom>
          <a:noFill/>
          <a:ln/>
        </p:spPr>
        <p:txBody>
          <a:bodyPr wrap="square" lIns="0" tIns="0" rIns="0" bIns="0" rtlCol="0" anchor="ctr"/>
          <a:lstStyle/>
          <a:p>
            <a:pPr marL="0" indent="0">
              <a:buNone/>
            </a:pPr>
            <a:r>
              <a:rPr lang="en-US" sz="1300" b="1" dirty="0">
                <a:solidFill>
                  <a:srgbClr val="0B3C5D"/>
                </a:solidFill>
                <a:latin typeface="Calibri" pitchFamily="34" charset="0"/>
                <a:ea typeface="Calibri" pitchFamily="34" charset="-122"/>
                <a:cs typeface="Calibri" pitchFamily="34" charset="-120"/>
              </a:rPr>
              <a:t>Inventory and Warehouse</a:t>
            </a:r>
            <a:endParaRPr lang="en-US" sz="1300" dirty="0"/>
          </a:p>
        </p:txBody>
      </p:sp>
      <p:sp>
        <p:nvSpPr>
          <p:cNvPr id="18" name="Text 16"/>
          <p:cNvSpPr txBox="1"/>
          <p:nvPr/>
        </p:nvSpPr>
        <p:spPr>
          <a:xfrm>
            <a:off x="2880360" y="2569464"/>
            <a:ext cx="2377440" cy="438912"/>
          </a:xfrm>
          <a:prstGeom prst="rect">
            <a:avLst/>
          </a:prstGeom>
          <a:noFill/>
          <a:ln/>
        </p:spPr>
        <p:txBody>
          <a:bodyPr wrap="square" lIns="0" tIns="0" rIns="0" bIns="0" rtlCol="0" anchor="ctr"/>
          <a:lstStyle/>
          <a:p>
            <a:pPr marL="0" indent="0">
              <a:buNone/>
            </a:pPr>
            <a:r>
              <a:rPr lang="en-US" sz="1050" dirty="0">
                <a:solidFill>
                  <a:srgbClr val="5B6475"/>
                </a:solidFill>
                <a:latin typeface="Calibri" pitchFamily="34" charset="0"/>
                <a:ea typeface="Calibri" pitchFamily="34" charset="-122"/>
                <a:cs typeface="Calibri" pitchFamily="34" charset="-120"/>
              </a:rPr>
              <a:t>Stock levels, estimated capacity, low stock, comparison</a:t>
            </a:r>
            <a:endParaRPr lang="en-US" sz="1050" dirty="0"/>
          </a:p>
        </p:txBody>
      </p:sp>
      <p:sp>
        <p:nvSpPr>
          <p:cNvPr id="19" name="Shape 17"/>
          <p:cNvSpPr/>
          <p:nvPr/>
        </p:nvSpPr>
        <p:spPr>
          <a:xfrm>
            <a:off x="548640" y="3118104"/>
            <a:ext cx="4754880" cy="475488"/>
          </a:xfrm>
          <a:prstGeom prst="roundRect">
            <a:avLst>
              <a:gd name="adj" fmla="val 19231"/>
            </a:avLst>
          </a:prstGeom>
          <a:solidFill>
            <a:srgbClr val="EEF3F8"/>
          </a:solidFill>
          <a:ln w="12700">
            <a:solidFill>
              <a:srgbClr val="EEF3F8"/>
            </a:solidFill>
            <a:prstDash val="solid"/>
          </a:ln>
        </p:spPr>
      </p:sp>
      <p:sp>
        <p:nvSpPr>
          <p:cNvPr id="20" name="Shape 18"/>
          <p:cNvSpPr/>
          <p:nvPr/>
        </p:nvSpPr>
        <p:spPr>
          <a:xfrm>
            <a:off x="640080" y="3191256"/>
            <a:ext cx="329184" cy="329184"/>
          </a:xfrm>
          <a:prstGeom prst="ellipse">
            <a:avLst/>
          </a:prstGeom>
          <a:solidFill>
            <a:srgbClr val="0B3C5D"/>
          </a:solidFill>
          <a:ln w="12700">
            <a:solidFill>
              <a:srgbClr val="0B3C5D"/>
            </a:solidFill>
            <a:prstDash val="solid"/>
          </a:ln>
        </p:spPr>
      </p:sp>
      <p:sp>
        <p:nvSpPr>
          <p:cNvPr id="21" name="Text 19"/>
          <p:cNvSpPr txBox="1"/>
          <p:nvPr/>
        </p:nvSpPr>
        <p:spPr>
          <a:xfrm>
            <a:off x="640080" y="31912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097280" y="3136392"/>
            <a:ext cx="1828800" cy="438912"/>
          </a:xfrm>
          <a:prstGeom prst="rect">
            <a:avLst/>
          </a:prstGeom>
          <a:noFill/>
          <a:ln/>
        </p:spPr>
        <p:txBody>
          <a:bodyPr wrap="square" lIns="0" tIns="0" rIns="0" bIns="0" rtlCol="0" anchor="ctr"/>
          <a:lstStyle/>
          <a:p>
            <a:pPr marL="0" indent="0">
              <a:buNone/>
            </a:pPr>
            <a:r>
              <a:rPr lang="en-US" sz="1300" b="1" dirty="0">
                <a:solidFill>
                  <a:srgbClr val="0B3C5D"/>
                </a:solidFill>
                <a:latin typeface="Calibri" pitchFamily="34" charset="0"/>
                <a:ea typeface="Calibri" pitchFamily="34" charset="-122"/>
                <a:cs typeface="Calibri" pitchFamily="34" charset="-120"/>
              </a:rPr>
              <a:t>Shipment and Delivery</a:t>
            </a:r>
            <a:endParaRPr lang="en-US" sz="1300" dirty="0"/>
          </a:p>
        </p:txBody>
      </p:sp>
      <p:sp>
        <p:nvSpPr>
          <p:cNvPr id="23" name="Text 21"/>
          <p:cNvSpPr txBox="1"/>
          <p:nvPr/>
        </p:nvSpPr>
        <p:spPr>
          <a:xfrm>
            <a:off x="2880360" y="3136392"/>
            <a:ext cx="2377440" cy="438912"/>
          </a:xfrm>
          <a:prstGeom prst="rect">
            <a:avLst/>
          </a:prstGeom>
          <a:noFill/>
          <a:ln/>
        </p:spPr>
        <p:txBody>
          <a:bodyPr wrap="square" lIns="0" tIns="0" rIns="0" bIns="0" rtlCol="0" anchor="ctr"/>
          <a:lstStyle/>
          <a:p>
            <a:pPr marL="0" indent="0">
              <a:buNone/>
            </a:pPr>
            <a:r>
              <a:rPr lang="en-US" sz="1050" dirty="0">
                <a:solidFill>
                  <a:srgbClr val="5B6475"/>
                </a:solidFill>
                <a:latin typeface="Calibri" pitchFamily="34" charset="0"/>
                <a:ea typeface="Calibri" pitchFamily="34" charset="-122"/>
                <a:cs typeface="Calibri" pitchFamily="34" charset="-120"/>
              </a:rPr>
              <a:t>Delays by region, delay buckets, shipment trend</a:t>
            </a:r>
            <a:endParaRPr lang="en-US" sz="1050" dirty="0"/>
          </a:p>
        </p:txBody>
      </p:sp>
      <p:sp>
        <p:nvSpPr>
          <p:cNvPr id="24" name="Shape 22"/>
          <p:cNvSpPr/>
          <p:nvPr/>
        </p:nvSpPr>
        <p:spPr>
          <a:xfrm>
            <a:off x="548640" y="3685032"/>
            <a:ext cx="4754880" cy="475488"/>
          </a:xfrm>
          <a:prstGeom prst="roundRect">
            <a:avLst>
              <a:gd name="adj" fmla="val 19231"/>
            </a:avLst>
          </a:prstGeom>
          <a:solidFill>
            <a:srgbClr val="EEF3F8"/>
          </a:solidFill>
          <a:ln w="12700">
            <a:solidFill>
              <a:srgbClr val="EEF3F8"/>
            </a:solidFill>
            <a:prstDash val="solid"/>
          </a:ln>
        </p:spPr>
      </p:sp>
      <p:sp>
        <p:nvSpPr>
          <p:cNvPr id="25" name="Shape 23"/>
          <p:cNvSpPr/>
          <p:nvPr/>
        </p:nvSpPr>
        <p:spPr>
          <a:xfrm>
            <a:off x="640080" y="3758184"/>
            <a:ext cx="329184" cy="329184"/>
          </a:xfrm>
          <a:prstGeom prst="ellipse">
            <a:avLst/>
          </a:prstGeom>
          <a:solidFill>
            <a:srgbClr val="0B3C5D"/>
          </a:solidFill>
          <a:ln w="12700">
            <a:solidFill>
              <a:srgbClr val="0B3C5D"/>
            </a:solidFill>
            <a:prstDash val="solid"/>
          </a:ln>
        </p:spPr>
      </p:sp>
      <p:sp>
        <p:nvSpPr>
          <p:cNvPr id="26" name="Text 24"/>
          <p:cNvSpPr txBox="1"/>
          <p:nvPr/>
        </p:nvSpPr>
        <p:spPr>
          <a:xfrm>
            <a:off x="640080" y="37581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097280" y="3703320"/>
            <a:ext cx="1828800" cy="438912"/>
          </a:xfrm>
          <a:prstGeom prst="rect">
            <a:avLst/>
          </a:prstGeom>
          <a:noFill/>
          <a:ln/>
        </p:spPr>
        <p:txBody>
          <a:bodyPr wrap="square" lIns="0" tIns="0" rIns="0" bIns="0" rtlCol="0" anchor="ctr"/>
          <a:lstStyle/>
          <a:p>
            <a:pPr marL="0" indent="0">
              <a:buNone/>
            </a:pPr>
            <a:r>
              <a:rPr lang="en-US" sz="1300" b="1" dirty="0">
                <a:solidFill>
                  <a:srgbClr val="0B3C5D"/>
                </a:solidFill>
                <a:latin typeface="Calibri" pitchFamily="34" charset="0"/>
                <a:ea typeface="Calibri" pitchFamily="34" charset="-122"/>
                <a:cs typeface="Calibri" pitchFamily="34" charset="-120"/>
              </a:rPr>
              <a:t>Supplier and Product</a:t>
            </a:r>
            <a:endParaRPr lang="en-US" sz="1300" dirty="0"/>
          </a:p>
        </p:txBody>
      </p:sp>
      <p:sp>
        <p:nvSpPr>
          <p:cNvPr id="28" name="Text 26"/>
          <p:cNvSpPr txBox="1"/>
          <p:nvPr/>
        </p:nvSpPr>
        <p:spPr>
          <a:xfrm>
            <a:off x="2880360" y="3703320"/>
            <a:ext cx="2377440" cy="438912"/>
          </a:xfrm>
          <a:prstGeom prst="rect">
            <a:avLst/>
          </a:prstGeom>
          <a:noFill/>
          <a:ln/>
        </p:spPr>
        <p:txBody>
          <a:bodyPr wrap="square" lIns="0" tIns="0" rIns="0" bIns="0" rtlCol="0" anchor="ctr"/>
          <a:lstStyle/>
          <a:p>
            <a:pPr marL="0" indent="0">
              <a:buNone/>
            </a:pPr>
            <a:r>
              <a:rPr lang="en-US" sz="1050" dirty="0">
                <a:solidFill>
                  <a:srgbClr val="5B6475"/>
                </a:solidFill>
                <a:latin typeface="Calibri" pitchFamily="34" charset="0"/>
                <a:ea typeface="Calibri" pitchFamily="34" charset="-122"/>
                <a:cs typeface="Calibri" pitchFamily="34" charset="-120"/>
              </a:rPr>
              <a:t>Best sellers, returns, categories, supplier score</a:t>
            </a:r>
            <a:endParaRPr lang="en-US" sz="1050" dirty="0"/>
          </a:p>
        </p:txBody>
      </p:sp>
      <p:sp>
        <p:nvSpPr>
          <p:cNvPr id="29" name="Text 27"/>
          <p:cNvSpPr txBox="1"/>
          <p:nvPr/>
        </p:nvSpPr>
        <p:spPr>
          <a:xfrm>
            <a:off x="5669280" y="1417320"/>
            <a:ext cx="3017520" cy="320040"/>
          </a:xfrm>
          <a:prstGeom prst="rect">
            <a:avLst/>
          </a:prstGeom>
          <a:noFill/>
          <a:ln/>
        </p:spPr>
        <p:txBody>
          <a:bodyPr wrap="square" lIns="0" tIns="0" rIns="0" bIns="0" rtlCol="0" anchor="t"/>
          <a:lstStyle/>
          <a:p>
            <a:pPr marL="0" indent="0">
              <a:buNone/>
            </a:pPr>
            <a:r>
              <a:rPr lang="en-US" sz="1500" b="1" dirty="0">
                <a:solidFill>
                  <a:srgbClr val="0B3C5D"/>
                </a:solidFill>
                <a:latin typeface="Calibri" pitchFamily="34" charset="0"/>
                <a:ea typeface="Calibri" pitchFamily="34" charset="-122"/>
                <a:cs typeface="Calibri" pitchFamily="34" charset="-120"/>
              </a:rPr>
              <a:t>Interactive features</a:t>
            </a:r>
            <a:endParaRPr lang="en-US" sz="1500" dirty="0"/>
          </a:p>
        </p:txBody>
      </p:sp>
      <p:sp>
        <p:nvSpPr>
          <p:cNvPr id="30" name="Text 28"/>
          <p:cNvSpPr txBox="1"/>
          <p:nvPr/>
        </p:nvSpPr>
        <p:spPr>
          <a:xfrm>
            <a:off x="5669280" y="1783080"/>
            <a:ext cx="3017520" cy="329184"/>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Synchronised slicers</a:t>
            </a:r>
            <a:endParaRPr lang="en-US" sz="1300" dirty="0"/>
          </a:p>
        </p:txBody>
      </p:sp>
      <p:sp>
        <p:nvSpPr>
          <p:cNvPr id="31" name="Text 29"/>
          <p:cNvSpPr txBox="1"/>
          <p:nvPr/>
        </p:nvSpPr>
        <p:spPr>
          <a:xfrm>
            <a:off x="5669280" y="2130552"/>
            <a:ext cx="3017520" cy="329184"/>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Drill-through pages</a:t>
            </a:r>
            <a:endParaRPr lang="en-US" sz="1300" dirty="0"/>
          </a:p>
        </p:txBody>
      </p:sp>
      <p:sp>
        <p:nvSpPr>
          <p:cNvPr id="32" name="Text 30"/>
          <p:cNvSpPr txBox="1"/>
          <p:nvPr/>
        </p:nvSpPr>
        <p:spPr>
          <a:xfrm>
            <a:off x="5669280" y="2478024"/>
            <a:ext cx="3017520" cy="329184"/>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Dynamic tooltips</a:t>
            </a:r>
            <a:endParaRPr lang="en-US" sz="1300" dirty="0"/>
          </a:p>
        </p:txBody>
      </p:sp>
      <p:sp>
        <p:nvSpPr>
          <p:cNvPr id="33" name="Text 31"/>
          <p:cNvSpPr txBox="1"/>
          <p:nvPr/>
        </p:nvSpPr>
        <p:spPr>
          <a:xfrm>
            <a:off x="5669280" y="2825496"/>
            <a:ext cx="3017520" cy="329184"/>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Dynamic titles</a:t>
            </a:r>
            <a:endParaRPr lang="en-US" sz="1300" dirty="0"/>
          </a:p>
        </p:txBody>
      </p:sp>
      <p:sp>
        <p:nvSpPr>
          <p:cNvPr id="34" name="Text 32"/>
          <p:cNvSpPr txBox="1"/>
          <p:nvPr/>
        </p:nvSpPr>
        <p:spPr>
          <a:xfrm>
            <a:off x="5669280" y="3172968"/>
            <a:ext cx="3017520" cy="329184"/>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Conditional formatting</a:t>
            </a:r>
            <a:endParaRPr lang="en-US" sz="1300" dirty="0"/>
          </a:p>
        </p:txBody>
      </p:sp>
      <p:sp>
        <p:nvSpPr>
          <p:cNvPr id="35" name="Text 33"/>
          <p:cNvSpPr txBox="1"/>
          <p:nvPr/>
        </p:nvSpPr>
        <p:spPr>
          <a:xfrm>
            <a:off x="5669280" y="3520440"/>
            <a:ext cx="3017520" cy="329184"/>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What-If parameters</a:t>
            </a:r>
            <a:endParaRPr lang="en-US" sz="1300" dirty="0"/>
          </a:p>
        </p:txBody>
      </p:sp>
      <p:sp>
        <p:nvSpPr>
          <p:cNvPr id="36" name="Text 34"/>
          <p:cNvSpPr txBox="1"/>
          <p:nvPr/>
        </p:nvSpPr>
        <p:spPr>
          <a:xfrm>
            <a:off x="5669280" y="3867912"/>
            <a:ext cx="3017520" cy="329184"/>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Bookmarks and page navigation</a:t>
            </a:r>
            <a:endParaRPr lang="en-US" sz="1300" dirty="0"/>
          </a:p>
        </p:txBody>
      </p:sp>
      <p:sp>
        <p:nvSpPr>
          <p:cNvPr id="37" name="Text 35"/>
          <p:cNvSpPr txBox="1"/>
          <p:nvPr/>
        </p:nvSpPr>
        <p:spPr>
          <a:xfrm>
            <a:off x="5669280" y="4215384"/>
            <a:ext cx="3017520" cy="329184"/>
          </a:xfrm>
          <a:prstGeom prst="rect">
            <a:avLst/>
          </a:prstGeom>
          <a:noFill/>
          <a:ln/>
        </p:spPr>
        <p:txBody>
          <a:bodyPr wrap="square" lIns="0" tIns="0" rIns="0" bIns="0" rtlCol="0" anchor="t"/>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Mobile layout</a:t>
            </a:r>
            <a:endParaRPr lang="en-US" sz="1300" dirty="0"/>
          </a:p>
        </p:txBody>
      </p:sp>
      <p:pic>
        <p:nvPicPr>
          <p:cNvPr id="38" name="Picture 37">
            <a:extLst>
              <a:ext uri="{FF2B5EF4-FFF2-40B4-BE49-F238E27FC236}">
                <a16:creationId xmlns:a16="http://schemas.microsoft.com/office/drawing/2014/main" id="{69EF52C8-EA77-8288-460E-1360CEF8332F}"/>
              </a:ext>
            </a:extLst>
          </p:cNvPr>
          <p:cNvPicPr>
            <a:picLocks noChangeAspect="1"/>
          </p:cNvPicPr>
          <p:nvPr/>
        </p:nvPicPr>
        <p:blipFill>
          <a:blip r:embed="rId3"/>
          <a:stretch>
            <a:fillRect/>
          </a:stretch>
        </p:blipFill>
        <p:spPr>
          <a:xfrm>
            <a:off x="7239000" y="-85725"/>
            <a:ext cx="1657350" cy="16573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marL="0" indent="0">
              <a:buNone/>
            </a:pPr>
            <a:r>
              <a:rPr lang="en-US" sz="2800" b="1" dirty="0">
                <a:solidFill>
                  <a:srgbClr val="0B3C5D"/>
                </a:solidFill>
                <a:latin typeface="Cambria" pitchFamily="34" charset="0"/>
                <a:ea typeface="Cambria" pitchFamily="34" charset="-122"/>
                <a:cs typeface="Cambria" pitchFamily="34" charset="-120"/>
              </a:rPr>
              <a:t>KPI summary</a:t>
            </a:r>
            <a:endParaRPr lang="en-US" sz="2800" dirty="0"/>
          </a:p>
        </p:txBody>
      </p:sp>
      <p:sp>
        <p:nvSpPr>
          <p:cNvPr id="3" name="Text 1"/>
          <p:cNvSpPr txBox="1"/>
          <p:nvPr/>
        </p:nvSpPr>
        <p:spPr>
          <a:xfrm>
            <a:off x="548640" y="896112"/>
            <a:ext cx="8046720" cy="36576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Delivery and order completion are the weakest KPIs</a:t>
            </a:r>
            <a:endParaRPr lang="en-US" sz="1400" dirty="0"/>
          </a:p>
        </p:txBody>
      </p:sp>
      <p:sp>
        <p:nvSpPr>
          <p:cNvPr id="4" name="Shape 2"/>
          <p:cNvSpPr/>
          <p:nvPr/>
        </p:nvSpPr>
        <p:spPr>
          <a:xfrm>
            <a:off x="548640" y="1417320"/>
            <a:ext cx="1874520" cy="960120"/>
          </a:xfrm>
          <a:prstGeom prst="roundRect">
            <a:avLst>
              <a:gd name="adj" fmla="val 9524"/>
            </a:avLst>
          </a:prstGeom>
          <a:solidFill>
            <a:srgbClr val="EEF3F8"/>
          </a:solidFill>
          <a:ln w="12700">
            <a:solidFill>
              <a:srgbClr val="EEF3F8"/>
            </a:solidFill>
            <a:prstDash val="solid"/>
          </a:ln>
        </p:spPr>
      </p:sp>
      <p:sp>
        <p:nvSpPr>
          <p:cNvPr id="5" name="Shape 3"/>
          <p:cNvSpPr/>
          <p:nvPr/>
        </p:nvSpPr>
        <p:spPr>
          <a:xfrm>
            <a:off x="548640" y="1527048"/>
            <a:ext cx="64008" cy="740664"/>
          </a:xfrm>
          <a:prstGeom prst="rect">
            <a:avLst/>
          </a:prstGeom>
          <a:solidFill>
            <a:srgbClr val="0B3C5D"/>
          </a:solidFill>
          <a:ln w="12700">
            <a:solidFill>
              <a:srgbClr val="0B3C5D"/>
            </a:solidFill>
            <a:prstDash val="solid"/>
          </a:ln>
        </p:spPr>
      </p:sp>
      <p:sp>
        <p:nvSpPr>
          <p:cNvPr id="6" name="Text 4"/>
          <p:cNvSpPr txBox="1"/>
          <p:nvPr/>
        </p:nvSpPr>
        <p:spPr>
          <a:xfrm>
            <a:off x="685800" y="1508760"/>
            <a:ext cx="1691640" cy="502920"/>
          </a:xfrm>
          <a:prstGeom prst="rect">
            <a:avLst/>
          </a:prstGeom>
          <a:noFill/>
          <a:ln/>
        </p:spPr>
        <p:txBody>
          <a:bodyPr wrap="square" lIns="0" tIns="0" rIns="0" bIns="0" rtlCol="0" anchor="ctr"/>
          <a:lstStyle/>
          <a:p>
            <a:pPr marL="0" indent="0">
              <a:buNone/>
            </a:pPr>
            <a:r>
              <a:rPr lang="en-US" sz="2400" b="1" dirty="0">
                <a:solidFill>
                  <a:srgbClr val="0B3C5D"/>
                </a:solidFill>
                <a:latin typeface="Cambria" pitchFamily="34" charset="0"/>
                <a:ea typeface="Cambria" pitchFamily="34" charset="-122"/>
                <a:cs typeface="Cambria" pitchFamily="34" charset="-120"/>
              </a:rPr>
              <a:t>₦7.11M</a:t>
            </a:r>
            <a:endParaRPr lang="en-US" sz="2400" dirty="0"/>
          </a:p>
        </p:txBody>
      </p:sp>
      <p:sp>
        <p:nvSpPr>
          <p:cNvPr id="7" name="Text 5"/>
          <p:cNvSpPr txBox="1"/>
          <p:nvPr/>
        </p:nvSpPr>
        <p:spPr>
          <a:xfrm>
            <a:off x="685800" y="201168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Delivered revenue</a:t>
            </a:r>
            <a:endParaRPr lang="en-US" sz="1150" dirty="0"/>
          </a:p>
        </p:txBody>
      </p:sp>
      <p:sp>
        <p:nvSpPr>
          <p:cNvPr id="8" name="Shape 6"/>
          <p:cNvSpPr/>
          <p:nvPr/>
        </p:nvSpPr>
        <p:spPr>
          <a:xfrm>
            <a:off x="2560320" y="1417320"/>
            <a:ext cx="1874520" cy="960120"/>
          </a:xfrm>
          <a:prstGeom prst="roundRect">
            <a:avLst>
              <a:gd name="adj" fmla="val 9524"/>
            </a:avLst>
          </a:prstGeom>
          <a:solidFill>
            <a:srgbClr val="EEF3F8"/>
          </a:solidFill>
          <a:ln w="12700">
            <a:solidFill>
              <a:srgbClr val="EEF3F8"/>
            </a:solidFill>
            <a:prstDash val="solid"/>
          </a:ln>
        </p:spPr>
      </p:sp>
      <p:sp>
        <p:nvSpPr>
          <p:cNvPr id="9" name="Shape 7"/>
          <p:cNvSpPr/>
          <p:nvPr/>
        </p:nvSpPr>
        <p:spPr>
          <a:xfrm>
            <a:off x="2560320" y="1527048"/>
            <a:ext cx="64008" cy="740664"/>
          </a:xfrm>
          <a:prstGeom prst="rect">
            <a:avLst/>
          </a:prstGeom>
          <a:solidFill>
            <a:srgbClr val="0B3C5D"/>
          </a:solidFill>
          <a:ln w="12700">
            <a:solidFill>
              <a:srgbClr val="0B3C5D"/>
            </a:solidFill>
            <a:prstDash val="solid"/>
          </a:ln>
        </p:spPr>
      </p:sp>
      <p:sp>
        <p:nvSpPr>
          <p:cNvPr id="10" name="Text 8"/>
          <p:cNvSpPr txBox="1"/>
          <p:nvPr/>
        </p:nvSpPr>
        <p:spPr>
          <a:xfrm>
            <a:off x="2697480" y="1508760"/>
            <a:ext cx="1691640" cy="502920"/>
          </a:xfrm>
          <a:prstGeom prst="rect">
            <a:avLst/>
          </a:prstGeom>
          <a:noFill/>
          <a:ln/>
        </p:spPr>
        <p:txBody>
          <a:bodyPr wrap="square" lIns="0" tIns="0" rIns="0" bIns="0" rtlCol="0" anchor="ctr"/>
          <a:lstStyle/>
          <a:p>
            <a:pPr marL="0" indent="0">
              <a:buNone/>
            </a:pPr>
            <a:r>
              <a:rPr lang="en-US" sz="2400" b="1" dirty="0">
                <a:solidFill>
                  <a:srgbClr val="0B3C5D"/>
                </a:solidFill>
                <a:latin typeface="Cambria" pitchFamily="34" charset="0"/>
                <a:ea typeface="Cambria" pitchFamily="34" charset="-122"/>
                <a:cs typeface="Cambria" pitchFamily="34" charset="-120"/>
              </a:rPr>
              <a:t>5,000</a:t>
            </a:r>
            <a:endParaRPr lang="en-US" sz="2400" dirty="0"/>
          </a:p>
        </p:txBody>
      </p:sp>
      <p:sp>
        <p:nvSpPr>
          <p:cNvPr id="11" name="Text 9"/>
          <p:cNvSpPr txBox="1"/>
          <p:nvPr/>
        </p:nvSpPr>
        <p:spPr>
          <a:xfrm>
            <a:off x="2697480" y="201168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Total orders</a:t>
            </a:r>
            <a:endParaRPr lang="en-US" sz="1150" dirty="0"/>
          </a:p>
        </p:txBody>
      </p:sp>
      <p:sp>
        <p:nvSpPr>
          <p:cNvPr id="12" name="Shape 10"/>
          <p:cNvSpPr/>
          <p:nvPr/>
        </p:nvSpPr>
        <p:spPr>
          <a:xfrm>
            <a:off x="4572000" y="1417320"/>
            <a:ext cx="1874520" cy="960120"/>
          </a:xfrm>
          <a:prstGeom prst="roundRect">
            <a:avLst>
              <a:gd name="adj" fmla="val 9524"/>
            </a:avLst>
          </a:prstGeom>
          <a:solidFill>
            <a:srgbClr val="EEF3F8"/>
          </a:solidFill>
          <a:ln w="12700">
            <a:solidFill>
              <a:srgbClr val="EEF3F8"/>
            </a:solidFill>
            <a:prstDash val="solid"/>
          </a:ln>
        </p:spPr>
      </p:sp>
      <p:sp>
        <p:nvSpPr>
          <p:cNvPr id="13" name="Shape 11"/>
          <p:cNvSpPr/>
          <p:nvPr/>
        </p:nvSpPr>
        <p:spPr>
          <a:xfrm>
            <a:off x="4572000" y="1527048"/>
            <a:ext cx="64008" cy="740664"/>
          </a:xfrm>
          <a:prstGeom prst="rect">
            <a:avLst/>
          </a:prstGeom>
          <a:solidFill>
            <a:srgbClr val="0B3C5D"/>
          </a:solidFill>
          <a:ln w="12700">
            <a:solidFill>
              <a:srgbClr val="0B3C5D"/>
            </a:solidFill>
            <a:prstDash val="solid"/>
          </a:ln>
        </p:spPr>
      </p:sp>
      <p:sp>
        <p:nvSpPr>
          <p:cNvPr id="14" name="Text 12"/>
          <p:cNvSpPr txBox="1"/>
          <p:nvPr/>
        </p:nvSpPr>
        <p:spPr>
          <a:xfrm>
            <a:off x="4709160" y="1508760"/>
            <a:ext cx="1691640" cy="502920"/>
          </a:xfrm>
          <a:prstGeom prst="rect">
            <a:avLst/>
          </a:prstGeom>
          <a:noFill/>
          <a:ln/>
        </p:spPr>
        <p:txBody>
          <a:bodyPr wrap="square" lIns="0" tIns="0" rIns="0" bIns="0" rtlCol="0" anchor="ctr"/>
          <a:lstStyle/>
          <a:p>
            <a:pPr marL="0" indent="0">
              <a:buNone/>
            </a:pPr>
            <a:r>
              <a:rPr lang="en-US" sz="2400" b="1" dirty="0">
                <a:solidFill>
                  <a:srgbClr val="0B3C5D"/>
                </a:solidFill>
                <a:latin typeface="Cambria" pitchFamily="34" charset="0"/>
                <a:ea typeface="Cambria" pitchFamily="34" charset="-122"/>
                <a:cs typeface="Cambria" pitchFamily="34" charset="-120"/>
              </a:rPr>
              <a:t>₦4,504</a:t>
            </a:r>
            <a:endParaRPr lang="en-US" sz="2400" dirty="0"/>
          </a:p>
        </p:txBody>
      </p:sp>
      <p:sp>
        <p:nvSpPr>
          <p:cNvPr id="15" name="Text 13"/>
          <p:cNvSpPr txBox="1"/>
          <p:nvPr/>
        </p:nvSpPr>
        <p:spPr>
          <a:xfrm>
            <a:off x="4709160" y="201168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Average order value</a:t>
            </a:r>
            <a:endParaRPr lang="en-US" sz="1150" dirty="0"/>
          </a:p>
        </p:txBody>
      </p:sp>
      <p:sp>
        <p:nvSpPr>
          <p:cNvPr id="16" name="Shape 14"/>
          <p:cNvSpPr/>
          <p:nvPr/>
        </p:nvSpPr>
        <p:spPr>
          <a:xfrm>
            <a:off x="6583680" y="1417320"/>
            <a:ext cx="1874520" cy="960120"/>
          </a:xfrm>
          <a:prstGeom prst="roundRect">
            <a:avLst>
              <a:gd name="adj" fmla="val 9524"/>
            </a:avLst>
          </a:prstGeom>
          <a:solidFill>
            <a:srgbClr val="EEF3F8"/>
          </a:solidFill>
          <a:ln w="12700">
            <a:solidFill>
              <a:srgbClr val="EEF3F8"/>
            </a:solidFill>
            <a:prstDash val="solid"/>
          </a:ln>
        </p:spPr>
      </p:sp>
      <p:sp>
        <p:nvSpPr>
          <p:cNvPr id="17" name="Shape 15"/>
          <p:cNvSpPr/>
          <p:nvPr/>
        </p:nvSpPr>
        <p:spPr>
          <a:xfrm>
            <a:off x="6583680" y="1527048"/>
            <a:ext cx="64008" cy="740664"/>
          </a:xfrm>
          <a:prstGeom prst="rect">
            <a:avLst/>
          </a:prstGeom>
          <a:solidFill>
            <a:srgbClr val="1D7874"/>
          </a:solidFill>
          <a:ln w="12700">
            <a:solidFill>
              <a:srgbClr val="1D7874"/>
            </a:solidFill>
            <a:prstDash val="solid"/>
          </a:ln>
        </p:spPr>
      </p:sp>
      <p:sp>
        <p:nvSpPr>
          <p:cNvPr id="18" name="Text 16"/>
          <p:cNvSpPr txBox="1"/>
          <p:nvPr/>
        </p:nvSpPr>
        <p:spPr>
          <a:xfrm>
            <a:off x="6720840" y="1508760"/>
            <a:ext cx="1691640" cy="502920"/>
          </a:xfrm>
          <a:prstGeom prst="rect">
            <a:avLst/>
          </a:prstGeom>
          <a:noFill/>
          <a:ln/>
        </p:spPr>
        <p:txBody>
          <a:bodyPr wrap="square" lIns="0" tIns="0" rIns="0" bIns="0" rtlCol="0" anchor="ctr"/>
          <a:lstStyle/>
          <a:p>
            <a:pPr marL="0" indent="0">
              <a:buNone/>
            </a:pPr>
            <a:r>
              <a:rPr lang="en-US" sz="2400" b="1" dirty="0">
                <a:solidFill>
                  <a:srgbClr val="1D7874"/>
                </a:solidFill>
                <a:latin typeface="Cambria" pitchFamily="34" charset="0"/>
                <a:ea typeface="Cambria" pitchFamily="34" charset="-122"/>
                <a:cs typeface="Cambria" pitchFamily="34" charset="-120"/>
              </a:rPr>
              <a:t>95.96%</a:t>
            </a:r>
            <a:endParaRPr lang="en-US" sz="2400" dirty="0"/>
          </a:p>
        </p:txBody>
      </p:sp>
      <p:sp>
        <p:nvSpPr>
          <p:cNvPr id="19" name="Text 17"/>
          <p:cNvSpPr txBox="1"/>
          <p:nvPr/>
        </p:nvSpPr>
        <p:spPr>
          <a:xfrm>
            <a:off x="6720840" y="201168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Customer retention</a:t>
            </a:r>
            <a:endParaRPr lang="en-US" sz="1150" dirty="0"/>
          </a:p>
        </p:txBody>
      </p:sp>
      <p:sp>
        <p:nvSpPr>
          <p:cNvPr id="20" name="Shape 18"/>
          <p:cNvSpPr/>
          <p:nvPr/>
        </p:nvSpPr>
        <p:spPr>
          <a:xfrm>
            <a:off x="548640" y="2514600"/>
            <a:ext cx="1874520" cy="960120"/>
          </a:xfrm>
          <a:prstGeom prst="roundRect">
            <a:avLst>
              <a:gd name="adj" fmla="val 9524"/>
            </a:avLst>
          </a:prstGeom>
          <a:solidFill>
            <a:srgbClr val="EEF3F8"/>
          </a:solidFill>
          <a:ln w="12700">
            <a:solidFill>
              <a:srgbClr val="EEF3F8"/>
            </a:solidFill>
            <a:prstDash val="solid"/>
          </a:ln>
        </p:spPr>
      </p:sp>
      <p:sp>
        <p:nvSpPr>
          <p:cNvPr id="21" name="Shape 19"/>
          <p:cNvSpPr/>
          <p:nvPr/>
        </p:nvSpPr>
        <p:spPr>
          <a:xfrm>
            <a:off x="548640" y="2624328"/>
            <a:ext cx="64008" cy="740664"/>
          </a:xfrm>
          <a:prstGeom prst="rect">
            <a:avLst/>
          </a:prstGeom>
          <a:solidFill>
            <a:srgbClr val="C0392B"/>
          </a:solidFill>
          <a:ln w="12700">
            <a:solidFill>
              <a:srgbClr val="C0392B"/>
            </a:solidFill>
            <a:prstDash val="solid"/>
          </a:ln>
        </p:spPr>
      </p:sp>
      <p:sp>
        <p:nvSpPr>
          <p:cNvPr id="22" name="Text 20"/>
          <p:cNvSpPr txBox="1"/>
          <p:nvPr/>
        </p:nvSpPr>
        <p:spPr>
          <a:xfrm>
            <a:off x="685800" y="2606040"/>
            <a:ext cx="1691640" cy="502920"/>
          </a:xfrm>
          <a:prstGeom prst="rect">
            <a:avLst/>
          </a:prstGeom>
          <a:noFill/>
          <a:ln/>
        </p:spPr>
        <p:txBody>
          <a:bodyPr wrap="square" lIns="0" tIns="0" rIns="0" bIns="0" rtlCol="0" anchor="ctr"/>
          <a:lstStyle/>
          <a:p>
            <a:pPr marL="0" indent="0">
              <a:buNone/>
            </a:pPr>
            <a:r>
              <a:rPr lang="en-US" sz="2400" b="1" dirty="0">
                <a:solidFill>
                  <a:srgbClr val="C0392B"/>
                </a:solidFill>
                <a:latin typeface="Cambria" pitchFamily="34" charset="0"/>
                <a:ea typeface="Cambria" pitchFamily="34" charset="-122"/>
                <a:cs typeface="Cambria" pitchFamily="34" charset="-120"/>
              </a:rPr>
              <a:t>36.28%</a:t>
            </a:r>
            <a:endParaRPr lang="en-US" sz="2400" dirty="0"/>
          </a:p>
        </p:txBody>
      </p:sp>
      <p:sp>
        <p:nvSpPr>
          <p:cNvPr id="23" name="Text 21"/>
          <p:cNvSpPr txBox="1"/>
          <p:nvPr/>
        </p:nvSpPr>
        <p:spPr>
          <a:xfrm>
            <a:off x="685800" y="310896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On-time delivery</a:t>
            </a:r>
            <a:endParaRPr lang="en-US" sz="1150" dirty="0"/>
          </a:p>
        </p:txBody>
      </p:sp>
      <p:sp>
        <p:nvSpPr>
          <p:cNvPr id="24" name="Shape 22"/>
          <p:cNvSpPr/>
          <p:nvPr/>
        </p:nvSpPr>
        <p:spPr>
          <a:xfrm>
            <a:off x="2560320" y="2514600"/>
            <a:ext cx="1874520" cy="960120"/>
          </a:xfrm>
          <a:prstGeom prst="roundRect">
            <a:avLst>
              <a:gd name="adj" fmla="val 9524"/>
            </a:avLst>
          </a:prstGeom>
          <a:solidFill>
            <a:srgbClr val="EEF3F8"/>
          </a:solidFill>
          <a:ln w="12700">
            <a:solidFill>
              <a:srgbClr val="EEF3F8"/>
            </a:solidFill>
            <a:prstDash val="solid"/>
          </a:ln>
        </p:spPr>
      </p:sp>
      <p:sp>
        <p:nvSpPr>
          <p:cNvPr id="25" name="Shape 23"/>
          <p:cNvSpPr/>
          <p:nvPr/>
        </p:nvSpPr>
        <p:spPr>
          <a:xfrm>
            <a:off x="2560320" y="2624328"/>
            <a:ext cx="64008" cy="740664"/>
          </a:xfrm>
          <a:prstGeom prst="rect">
            <a:avLst/>
          </a:prstGeom>
          <a:solidFill>
            <a:srgbClr val="C0392B"/>
          </a:solidFill>
          <a:ln w="12700">
            <a:solidFill>
              <a:srgbClr val="C0392B"/>
            </a:solidFill>
            <a:prstDash val="solid"/>
          </a:ln>
        </p:spPr>
      </p:sp>
      <p:sp>
        <p:nvSpPr>
          <p:cNvPr id="26" name="Text 24"/>
          <p:cNvSpPr txBox="1"/>
          <p:nvPr/>
        </p:nvSpPr>
        <p:spPr>
          <a:xfrm>
            <a:off x="2697480" y="2606040"/>
            <a:ext cx="1691640" cy="502920"/>
          </a:xfrm>
          <a:prstGeom prst="rect">
            <a:avLst/>
          </a:prstGeom>
          <a:noFill/>
          <a:ln/>
        </p:spPr>
        <p:txBody>
          <a:bodyPr wrap="square" lIns="0" tIns="0" rIns="0" bIns="0" rtlCol="0" anchor="ctr"/>
          <a:lstStyle/>
          <a:p>
            <a:pPr marL="0" indent="0">
              <a:buNone/>
            </a:pPr>
            <a:r>
              <a:rPr lang="en-US" sz="2400" b="1" dirty="0">
                <a:solidFill>
                  <a:srgbClr val="C0392B"/>
                </a:solidFill>
                <a:latin typeface="Cambria" pitchFamily="34" charset="0"/>
                <a:ea typeface="Cambria" pitchFamily="34" charset="-122"/>
                <a:cs typeface="Cambria" pitchFamily="34" charset="-120"/>
              </a:rPr>
              <a:t>3.57 days</a:t>
            </a:r>
            <a:endParaRPr lang="en-US" sz="2400" dirty="0"/>
          </a:p>
        </p:txBody>
      </p:sp>
      <p:sp>
        <p:nvSpPr>
          <p:cNvPr id="27" name="Text 25"/>
          <p:cNvSpPr txBox="1"/>
          <p:nvPr/>
        </p:nvSpPr>
        <p:spPr>
          <a:xfrm>
            <a:off x="2697480" y="310896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Average delay</a:t>
            </a:r>
            <a:endParaRPr lang="en-US" sz="1150" dirty="0"/>
          </a:p>
        </p:txBody>
      </p:sp>
      <p:sp>
        <p:nvSpPr>
          <p:cNvPr id="28" name="Shape 26"/>
          <p:cNvSpPr/>
          <p:nvPr/>
        </p:nvSpPr>
        <p:spPr>
          <a:xfrm>
            <a:off x="4572000" y="2514600"/>
            <a:ext cx="1874520" cy="960120"/>
          </a:xfrm>
          <a:prstGeom prst="roundRect">
            <a:avLst>
              <a:gd name="adj" fmla="val 9524"/>
            </a:avLst>
          </a:prstGeom>
          <a:solidFill>
            <a:srgbClr val="EEF3F8"/>
          </a:solidFill>
          <a:ln w="12700">
            <a:solidFill>
              <a:srgbClr val="EEF3F8"/>
            </a:solidFill>
            <a:prstDash val="solid"/>
          </a:ln>
        </p:spPr>
      </p:sp>
      <p:sp>
        <p:nvSpPr>
          <p:cNvPr id="29" name="Shape 27"/>
          <p:cNvSpPr/>
          <p:nvPr/>
        </p:nvSpPr>
        <p:spPr>
          <a:xfrm>
            <a:off x="4572000" y="2624328"/>
            <a:ext cx="64008" cy="740664"/>
          </a:xfrm>
          <a:prstGeom prst="rect">
            <a:avLst/>
          </a:prstGeom>
          <a:solidFill>
            <a:srgbClr val="C0392B"/>
          </a:solidFill>
          <a:ln w="12700">
            <a:solidFill>
              <a:srgbClr val="C0392B"/>
            </a:solidFill>
            <a:prstDash val="solid"/>
          </a:ln>
        </p:spPr>
      </p:sp>
      <p:sp>
        <p:nvSpPr>
          <p:cNvPr id="30" name="Text 28"/>
          <p:cNvSpPr txBox="1"/>
          <p:nvPr/>
        </p:nvSpPr>
        <p:spPr>
          <a:xfrm>
            <a:off x="4709160" y="2606040"/>
            <a:ext cx="1691640" cy="502920"/>
          </a:xfrm>
          <a:prstGeom prst="rect">
            <a:avLst/>
          </a:prstGeom>
          <a:noFill/>
          <a:ln/>
        </p:spPr>
        <p:txBody>
          <a:bodyPr wrap="square" lIns="0" tIns="0" rIns="0" bIns="0" rtlCol="0" anchor="ctr"/>
          <a:lstStyle/>
          <a:p>
            <a:pPr marL="0" indent="0">
              <a:buNone/>
            </a:pPr>
            <a:r>
              <a:rPr lang="en-US" sz="2400" b="1" dirty="0">
                <a:solidFill>
                  <a:srgbClr val="C0392B"/>
                </a:solidFill>
                <a:latin typeface="Cambria" pitchFamily="34" charset="0"/>
                <a:ea typeface="Cambria" pitchFamily="34" charset="-122"/>
                <a:cs typeface="Cambria" pitchFamily="34" charset="-120"/>
              </a:rPr>
              <a:t>32.52%</a:t>
            </a:r>
            <a:endParaRPr lang="en-US" sz="2400" dirty="0"/>
          </a:p>
        </p:txBody>
      </p:sp>
      <p:sp>
        <p:nvSpPr>
          <p:cNvPr id="31" name="Text 29"/>
          <p:cNvSpPr txBox="1"/>
          <p:nvPr/>
        </p:nvSpPr>
        <p:spPr>
          <a:xfrm>
            <a:off x="4709160" y="310896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Cancellation rate</a:t>
            </a:r>
            <a:endParaRPr lang="en-US" sz="1150" dirty="0"/>
          </a:p>
        </p:txBody>
      </p:sp>
      <p:sp>
        <p:nvSpPr>
          <p:cNvPr id="32" name="Shape 30"/>
          <p:cNvSpPr/>
          <p:nvPr/>
        </p:nvSpPr>
        <p:spPr>
          <a:xfrm>
            <a:off x="6583680" y="2514600"/>
            <a:ext cx="1874520" cy="960120"/>
          </a:xfrm>
          <a:prstGeom prst="roundRect">
            <a:avLst>
              <a:gd name="adj" fmla="val 9524"/>
            </a:avLst>
          </a:prstGeom>
          <a:solidFill>
            <a:srgbClr val="EEF3F8"/>
          </a:solidFill>
          <a:ln w="12700">
            <a:solidFill>
              <a:srgbClr val="EEF3F8"/>
            </a:solidFill>
            <a:prstDash val="solid"/>
          </a:ln>
        </p:spPr>
      </p:sp>
      <p:sp>
        <p:nvSpPr>
          <p:cNvPr id="33" name="Shape 31"/>
          <p:cNvSpPr/>
          <p:nvPr/>
        </p:nvSpPr>
        <p:spPr>
          <a:xfrm>
            <a:off x="6583680" y="2624328"/>
            <a:ext cx="64008" cy="740664"/>
          </a:xfrm>
          <a:prstGeom prst="rect">
            <a:avLst/>
          </a:prstGeom>
          <a:solidFill>
            <a:srgbClr val="F28C28"/>
          </a:solidFill>
          <a:ln w="12700">
            <a:solidFill>
              <a:srgbClr val="F28C28"/>
            </a:solidFill>
            <a:prstDash val="solid"/>
          </a:ln>
        </p:spPr>
      </p:sp>
      <p:sp>
        <p:nvSpPr>
          <p:cNvPr id="34" name="Text 32"/>
          <p:cNvSpPr txBox="1"/>
          <p:nvPr/>
        </p:nvSpPr>
        <p:spPr>
          <a:xfrm>
            <a:off x="6720840" y="2606040"/>
            <a:ext cx="1691640" cy="502920"/>
          </a:xfrm>
          <a:prstGeom prst="rect">
            <a:avLst/>
          </a:prstGeom>
          <a:noFill/>
          <a:ln/>
        </p:spPr>
        <p:txBody>
          <a:bodyPr wrap="square" lIns="0" tIns="0" rIns="0" bIns="0" rtlCol="0" anchor="ctr"/>
          <a:lstStyle/>
          <a:p>
            <a:pPr marL="0" indent="0">
              <a:buNone/>
            </a:pPr>
            <a:r>
              <a:rPr lang="en-US" sz="2400" b="1" dirty="0">
                <a:solidFill>
                  <a:srgbClr val="F28C28"/>
                </a:solidFill>
                <a:latin typeface="Cambria" pitchFamily="34" charset="0"/>
                <a:ea typeface="Cambria" pitchFamily="34" charset="-122"/>
                <a:cs typeface="Cambria" pitchFamily="34" charset="-120"/>
              </a:rPr>
              <a:t>9.46%</a:t>
            </a:r>
            <a:endParaRPr lang="en-US" sz="2400" dirty="0"/>
          </a:p>
        </p:txBody>
      </p:sp>
      <p:sp>
        <p:nvSpPr>
          <p:cNvPr id="35" name="Text 33"/>
          <p:cNvSpPr txBox="1"/>
          <p:nvPr/>
        </p:nvSpPr>
        <p:spPr>
          <a:xfrm>
            <a:off x="6720840" y="310896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Return rate</a:t>
            </a:r>
            <a:endParaRPr lang="en-US" sz="1150" dirty="0"/>
          </a:p>
        </p:txBody>
      </p:sp>
      <p:sp>
        <p:nvSpPr>
          <p:cNvPr id="36" name="Shape 34"/>
          <p:cNvSpPr/>
          <p:nvPr/>
        </p:nvSpPr>
        <p:spPr>
          <a:xfrm>
            <a:off x="548640" y="3611880"/>
            <a:ext cx="1874520" cy="960120"/>
          </a:xfrm>
          <a:prstGeom prst="roundRect">
            <a:avLst>
              <a:gd name="adj" fmla="val 9524"/>
            </a:avLst>
          </a:prstGeom>
          <a:solidFill>
            <a:srgbClr val="EEF3F8"/>
          </a:solidFill>
          <a:ln w="12700">
            <a:solidFill>
              <a:srgbClr val="EEF3F8"/>
            </a:solidFill>
            <a:prstDash val="solid"/>
          </a:ln>
        </p:spPr>
      </p:sp>
      <p:sp>
        <p:nvSpPr>
          <p:cNvPr id="37" name="Shape 35"/>
          <p:cNvSpPr/>
          <p:nvPr/>
        </p:nvSpPr>
        <p:spPr>
          <a:xfrm>
            <a:off x="548640" y="3721608"/>
            <a:ext cx="64008" cy="740664"/>
          </a:xfrm>
          <a:prstGeom prst="rect">
            <a:avLst/>
          </a:prstGeom>
          <a:solidFill>
            <a:srgbClr val="0B3C5D"/>
          </a:solidFill>
          <a:ln w="12700">
            <a:solidFill>
              <a:srgbClr val="0B3C5D"/>
            </a:solidFill>
            <a:prstDash val="solid"/>
          </a:ln>
        </p:spPr>
      </p:sp>
      <p:sp>
        <p:nvSpPr>
          <p:cNvPr id="38" name="Text 36"/>
          <p:cNvSpPr txBox="1"/>
          <p:nvPr/>
        </p:nvSpPr>
        <p:spPr>
          <a:xfrm>
            <a:off x="685800" y="3703320"/>
            <a:ext cx="1691640" cy="502920"/>
          </a:xfrm>
          <a:prstGeom prst="rect">
            <a:avLst/>
          </a:prstGeom>
          <a:noFill/>
          <a:ln/>
        </p:spPr>
        <p:txBody>
          <a:bodyPr wrap="square" lIns="0" tIns="0" rIns="0" bIns="0" rtlCol="0" anchor="ctr"/>
          <a:lstStyle/>
          <a:p>
            <a:pPr marL="0" indent="0">
              <a:buNone/>
            </a:pPr>
            <a:r>
              <a:rPr lang="en-US" sz="2400" b="1" dirty="0">
                <a:solidFill>
                  <a:srgbClr val="0B3C5D"/>
                </a:solidFill>
                <a:latin typeface="Cambria" pitchFamily="34" charset="0"/>
                <a:ea typeface="Cambria" pitchFamily="34" charset="-122"/>
                <a:cs typeface="Cambria" pitchFamily="34" charset="-120"/>
              </a:rPr>
              <a:t>1.01M</a:t>
            </a:r>
            <a:endParaRPr lang="en-US" sz="2400" dirty="0"/>
          </a:p>
        </p:txBody>
      </p:sp>
      <p:sp>
        <p:nvSpPr>
          <p:cNvPr id="39" name="Text 37"/>
          <p:cNvSpPr txBox="1"/>
          <p:nvPr/>
        </p:nvSpPr>
        <p:spPr>
          <a:xfrm>
            <a:off x="685800" y="420624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Units in stock</a:t>
            </a:r>
            <a:endParaRPr lang="en-US" sz="1150" dirty="0"/>
          </a:p>
        </p:txBody>
      </p:sp>
      <p:sp>
        <p:nvSpPr>
          <p:cNvPr id="40" name="Shape 38"/>
          <p:cNvSpPr/>
          <p:nvPr/>
        </p:nvSpPr>
        <p:spPr>
          <a:xfrm>
            <a:off x="2560320" y="3611880"/>
            <a:ext cx="1874520" cy="960120"/>
          </a:xfrm>
          <a:prstGeom prst="roundRect">
            <a:avLst>
              <a:gd name="adj" fmla="val 9524"/>
            </a:avLst>
          </a:prstGeom>
          <a:solidFill>
            <a:srgbClr val="EEF3F8"/>
          </a:solidFill>
          <a:ln w="12700">
            <a:solidFill>
              <a:srgbClr val="EEF3F8"/>
            </a:solidFill>
            <a:prstDash val="solid"/>
          </a:ln>
        </p:spPr>
      </p:sp>
      <p:sp>
        <p:nvSpPr>
          <p:cNvPr id="41" name="Shape 39"/>
          <p:cNvSpPr/>
          <p:nvPr/>
        </p:nvSpPr>
        <p:spPr>
          <a:xfrm>
            <a:off x="2560320" y="3721608"/>
            <a:ext cx="64008" cy="740664"/>
          </a:xfrm>
          <a:prstGeom prst="rect">
            <a:avLst/>
          </a:prstGeom>
          <a:solidFill>
            <a:srgbClr val="C0392B"/>
          </a:solidFill>
          <a:ln w="12700">
            <a:solidFill>
              <a:srgbClr val="C0392B"/>
            </a:solidFill>
            <a:prstDash val="solid"/>
          </a:ln>
        </p:spPr>
      </p:sp>
      <p:sp>
        <p:nvSpPr>
          <p:cNvPr id="42" name="Text 40"/>
          <p:cNvSpPr txBox="1"/>
          <p:nvPr/>
        </p:nvSpPr>
        <p:spPr>
          <a:xfrm>
            <a:off x="2697480" y="3703320"/>
            <a:ext cx="1691640" cy="502920"/>
          </a:xfrm>
          <a:prstGeom prst="rect">
            <a:avLst/>
          </a:prstGeom>
          <a:noFill/>
          <a:ln/>
        </p:spPr>
        <p:txBody>
          <a:bodyPr wrap="square" lIns="0" tIns="0" rIns="0" bIns="0" rtlCol="0" anchor="ctr"/>
          <a:lstStyle/>
          <a:p>
            <a:pPr marL="0" indent="0">
              <a:buNone/>
            </a:pPr>
            <a:r>
              <a:rPr lang="en-US" sz="2400" b="1" dirty="0">
                <a:solidFill>
                  <a:srgbClr val="C0392B"/>
                </a:solidFill>
                <a:latin typeface="Cambria" pitchFamily="34" charset="0"/>
                <a:ea typeface="Cambria" pitchFamily="34" charset="-122"/>
                <a:cs typeface="Cambria" pitchFamily="34" charset="-120"/>
              </a:rPr>
              <a:t>0.027</a:t>
            </a:r>
            <a:endParaRPr lang="en-US" sz="2400" dirty="0"/>
          </a:p>
        </p:txBody>
      </p:sp>
      <p:sp>
        <p:nvSpPr>
          <p:cNvPr id="43" name="Text 41"/>
          <p:cNvSpPr txBox="1"/>
          <p:nvPr/>
        </p:nvSpPr>
        <p:spPr>
          <a:xfrm>
            <a:off x="2697480" y="420624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Inventory turnover</a:t>
            </a:r>
            <a:endParaRPr lang="en-US" sz="1150" dirty="0"/>
          </a:p>
        </p:txBody>
      </p:sp>
      <p:sp>
        <p:nvSpPr>
          <p:cNvPr id="44" name="Shape 42"/>
          <p:cNvSpPr/>
          <p:nvPr/>
        </p:nvSpPr>
        <p:spPr>
          <a:xfrm>
            <a:off x="4572000" y="3611880"/>
            <a:ext cx="1874520" cy="960120"/>
          </a:xfrm>
          <a:prstGeom prst="roundRect">
            <a:avLst>
              <a:gd name="adj" fmla="val 9524"/>
            </a:avLst>
          </a:prstGeom>
          <a:solidFill>
            <a:srgbClr val="EEF3F8"/>
          </a:solidFill>
          <a:ln w="12700">
            <a:solidFill>
              <a:srgbClr val="EEF3F8"/>
            </a:solidFill>
            <a:prstDash val="solid"/>
          </a:ln>
        </p:spPr>
      </p:sp>
      <p:sp>
        <p:nvSpPr>
          <p:cNvPr id="45" name="Shape 43"/>
          <p:cNvSpPr/>
          <p:nvPr/>
        </p:nvSpPr>
        <p:spPr>
          <a:xfrm>
            <a:off x="4572000" y="3721608"/>
            <a:ext cx="64008" cy="740664"/>
          </a:xfrm>
          <a:prstGeom prst="rect">
            <a:avLst/>
          </a:prstGeom>
          <a:solidFill>
            <a:srgbClr val="F28C28"/>
          </a:solidFill>
          <a:ln w="12700">
            <a:solidFill>
              <a:srgbClr val="F28C28"/>
            </a:solidFill>
            <a:prstDash val="solid"/>
          </a:ln>
        </p:spPr>
      </p:sp>
      <p:sp>
        <p:nvSpPr>
          <p:cNvPr id="46" name="Text 44"/>
          <p:cNvSpPr txBox="1"/>
          <p:nvPr/>
        </p:nvSpPr>
        <p:spPr>
          <a:xfrm>
            <a:off x="4709160" y="3703320"/>
            <a:ext cx="1691640" cy="502920"/>
          </a:xfrm>
          <a:prstGeom prst="rect">
            <a:avLst/>
          </a:prstGeom>
          <a:noFill/>
          <a:ln/>
        </p:spPr>
        <p:txBody>
          <a:bodyPr wrap="square" lIns="0" tIns="0" rIns="0" bIns="0" rtlCol="0" anchor="ctr"/>
          <a:lstStyle/>
          <a:p>
            <a:pPr marL="0" indent="0">
              <a:buNone/>
            </a:pPr>
            <a:r>
              <a:rPr lang="en-US" sz="2400" b="1" dirty="0">
                <a:solidFill>
                  <a:srgbClr val="F28C28"/>
                </a:solidFill>
                <a:latin typeface="Cambria" pitchFamily="34" charset="0"/>
                <a:ea typeface="Cambria" pitchFamily="34" charset="-122"/>
                <a:cs typeface="Cambria" pitchFamily="34" charset="-120"/>
              </a:rPr>
              <a:t>84%</a:t>
            </a:r>
            <a:endParaRPr lang="en-US" sz="2400" dirty="0"/>
          </a:p>
        </p:txBody>
      </p:sp>
      <p:sp>
        <p:nvSpPr>
          <p:cNvPr id="47" name="Text 45"/>
          <p:cNvSpPr txBox="1"/>
          <p:nvPr/>
        </p:nvSpPr>
        <p:spPr>
          <a:xfrm>
            <a:off x="4709160" y="420624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Est. warehouse utilisation</a:t>
            </a:r>
            <a:endParaRPr lang="en-US" sz="1150" dirty="0"/>
          </a:p>
        </p:txBody>
      </p:sp>
      <p:sp>
        <p:nvSpPr>
          <p:cNvPr id="48" name="Shape 46"/>
          <p:cNvSpPr/>
          <p:nvPr/>
        </p:nvSpPr>
        <p:spPr>
          <a:xfrm>
            <a:off x="6583680" y="3611880"/>
            <a:ext cx="1874520" cy="960120"/>
          </a:xfrm>
          <a:prstGeom prst="roundRect">
            <a:avLst>
              <a:gd name="adj" fmla="val 9524"/>
            </a:avLst>
          </a:prstGeom>
          <a:solidFill>
            <a:srgbClr val="EEF3F8"/>
          </a:solidFill>
          <a:ln w="12700">
            <a:solidFill>
              <a:srgbClr val="EEF3F8"/>
            </a:solidFill>
            <a:prstDash val="solid"/>
          </a:ln>
        </p:spPr>
      </p:sp>
      <p:sp>
        <p:nvSpPr>
          <p:cNvPr id="49" name="Shape 47"/>
          <p:cNvSpPr/>
          <p:nvPr/>
        </p:nvSpPr>
        <p:spPr>
          <a:xfrm>
            <a:off x="6583680" y="3721608"/>
            <a:ext cx="64008" cy="740664"/>
          </a:xfrm>
          <a:prstGeom prst="rect">
            <a:avLst/>
          </a:prstGeom>
          <a:solidFill>
            <a:srgbClr val="F28C28"/>
          </a:solidFill>
          <a:ln w="12700">
            <a:solidFill>
              <a:srgbClr val="F28C28"/>
            </a:solidFill>
            <a:prstDash val="solid"/>
          </a:ln>
        </p:spPr>
      </p:sp>
      <p:sp>
        <p:nvSpPr>
          <p:cNvPr id="50" name="Text 48"/>
          <p:cNvSpPr txBox="1"/>
          <p:nvPr/>
        </p:nvSpPr>
        <p:spPr>
          <a:xfrm>
            <a:off x="6720840" y="3703320"/>
            <a:ext cx="1691640" cy="502920"/>
          </a:xfrm>
          <a:prstGeom prst="rect">
            <a:avLst/>
          </a:prstGeom>
          <a:noFill/>
          <a:ln/>
        </p:spPr>
        <p:txBody>
          <a:bodyPr wrap="square" lIns="0" tIns="0" rIns="0" bIns="0" rtlCol="0" anchor="ctr"/>
          <a:lstStyle/>
          <a:p>
            <a:pPr marL="0" indent="0">
              <a:buNone/>
            </a:pPr>
            <a:r>
              <a:rPr lang="en-US" sz="2400" b="1" dirty="0">
                <a:solidFill>
                  <a:srgbClr val="F28C28"/>
                </a:solidFill>
                <a:latin typeface="Cambria" pitchFamily="34" charset="0"/>
                <a:ea typeface="Cambria" pitchFamily="34" charset="-122"/>
                <a:cs typeface="Cambria" pitchFamily="34" charset="-120"/>
              </a:rPr>
              <a:t>58.3</a:t>
            </a:r>
            <a:endParaRPr lang="en-US" sz="2400" dirty="0"/>
          </a:p>
        </p:txBody>
      </p:sp>
      <p:sp>
        <p:nvSpPr>
          <p:cNvPr id="51" name="Text 49"/>
          <p:cNvSpPr txBox="1"/>
          <p:nvPr/>
        </p:nvSpPr>
        <p:spPr>
          <a:xfrm>
            <a:off x="6720840" y="4206240"/>
            <a:ext cx="1691640" cy="274320"/>
          </a:xfrm>
          <a:prstGeom prst="rect">
            <a:avLst/>
          </a:prstGeom>
          <a:noFill/>
          <a:ln/>
        </p:spPr>
        <p:txBody>
          <a:bodyPr wrap="square" lIns="0" tIns="0" rIns="0" bIns="0" rtlCol="0" anchor="t"/>
          <a:lstStyle/>
          <a:p>
            <a:pPr marL="0" indent="0">
              <a:buNone/>
            </a:pPr>
            <a:r>
              <a:rPr lang="en-US" sz="1150" dirty="0">
                <a:solidFill>
                  <a:srgbClr val="5B6475"/>
                </a:solidFill>
                <a:latin typeface="Calibri" pitchFamily="34" charset="0"/>
                <a:ea typeface="Calibri" pitchFamily="34" charset="-122"/>
                <a:cs typeface="Calibri" pitchFamily="34" charset="-120"/>
              </a:rPr>
              <a:t>Supplier score (network)</a:t>
            </a:r>
            <a:endParaRPr lang="en-US" sz="1150" dirty="0"/>
          </a:p>
        </p:txBody>
      </p:sp>
      <p:sp>
        <p:nvSpPr>
          <p:cNvPr id="52" name="Text 50"/>
          <p:cNvSpPr txBox="1"/>
          <p:nvPr/>
        </p:nvSpPr>
        <p:spPr>
          <a:xfrm>
            <a:off x="548640" y="4663440"/>
            <a:ext cx="8046720" cy="274320"/>
          </a:xfrm>
          <a:prstGeom prst="rect">
            <a:avLst/>
          </a:prstGeom>
          <a:noFill/>
          <a:ln/>
        </p:spPr>
        <p:txBody>
          <a:bodyPr wrap="square" lIns="0" tIns="0" rIns="0" bIns="0" rtlCol="0" anchor="t"/>
          <a:lstStyle/>
          <a:p>
            <a:pPr marL="0" indent="0">
              <a:buNone/>
            </a:pPr>
            <a:r>
              <a:rPr lang="en-US" sz="1050" i="1" dirty="0">
                <a:solidFill>
                  <a:srgbClr val="5B6475"/>
                </a:solidFill>
                <a:latin typeface="Calibri" pitchFamily="34" charset="0"/>
                <a:ea typeface="Calibri" pitchFamily="34" charset="-122"/>
                <a:cs typeface="Calibri" pitchFamily="34" charset="-120"/>
              </a:rPr>
              <a:t>Red = needs immediate attention. On-time target of 80% is an assumed management target. Supplier score is a network-level framework.</a:t>
            </a:r>
            <a:endParaRPr lang="en-US" sz="1050" dirty="0"/>
          </a:p>
        </p:txBody>
      </p:sp>
      <p:pic>
        <p:nvPicPr>
          <p:cNvPr id="53" name="Picture 52">
            <a:extLst>
              <a:ext uri="{FF2B5EF4-FFF2-40B4-BE49-F238E27FC236}">
                <a16:creationId xmlns:a16="http://schemas.microsoft.com/office/drawing/2014/main" id="{89244746-09CF-B3D7-6FA3-A83CAA2485B2}"/>
              </a:ext>
            </a:extLst>
          </p:cNvPr>
          <p:cNvPicPr>
            <a:picLocks noChangeAspect="1"/>
          </p:cNvPicPr>
          <p:nvPr/>
        </p:nvPicPr>
        <p:blipFill>
          <a:blip r:embed="rId3"/>
          <a:stretch>
            <a:fillRect/>
          </a:stretch>
        </p:blipFill>
        <p:spPr>
          <a:xfrm>
            <a:off x="7239000" y="-85725"/>
            <a:ext cx="1657350" cy="16573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marL="0" indent="0">
              <a:buNone/>
            </a:pPr>
            <a:r>
              <a:rPr lang="en-US" sz="2800" b="1" dirty="0">
                <a:solidFill>
                  <a:srgbClr val="0B3C5D"/>
                </a:solidFill>
                <a:latin typeface="Cambria" pitchFamily="34" charset="0"/>
                <a:ea typeface="Cambria" pitchFamily="34" charset="-122"/>
                <a:cs typeface="Cambria" pitchFamily="34" charset="-120"/>
              </a:rPr>
              <a:t>Insight 1: delivery is slow everywhere</a:t>
            </a:r>
            <a:endParaRPr lang="en-US" sz="2800" dirty="0"/>
          </a:p>
        </p:txBody>
      </p:sp>
      <p:sp>
        <p:nvSpPr>
          <p:cNvPr id="3" name="Text 1"/>
          <p:cNvSpPr txBox="1"/>
          <p:nvPr/>
        </p:nvSpPr>
        <p:spPr>
          <a:xfrm>
            <a:off x="548640" y="896112"/>
            <a:ext cx="8046720" cy="36576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No warehouse comes close to the 80% on-time target</a:t>
            </a:r>
            <a:endParaRPr lang="en-US" sz="1400" dirty="0"/>
          </a:p>
        </p:txBody>
      </p:sp>
      <p:graphicFrame>
        <p:nvGraphicFramePr>
          <p:cNvPr id="4" name="Chart 0"/>
          <p:cNvGraphicFramePr/>
          <p:nvPr/>
        </p:nvGraphicFramePr>
        <p:xfrm>
          <a:off x="457200" y="1371600"/>
          <a:ext cx="54864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126480" y="1417320"/>
            <a:ext cx="2514600" cy="3246120"/>
          </a:xfrm>
          <a:prstGeom prst="roundRect">
            <a:avLst>
              <a:gd name="adj" fmla="val 3636"/>
            </a:avLst>
          </a:prstGeom>
          <a:solidFill>
            <a:srgbClr val="0B3C5D"/>
          </a:solidFill>
          <a:ln w="12700">
            <a:solidFill>
              <a:srgbClr val="0B3C5D"/>
            </a:solidFill>
            <a:prstDash val="solid"/>
          </a:ln>
        </p:spPr>
      </p:sp>
      <p:sp>
        <p:nvSpPr>
          <p:cNvPr id="6" name="Text 3"/>
          <p:cNvSpPr txBox="1"/>
          <p:nvPr/>
        </p:nvSpPr>
        <p:spPr>
          <a:xfrm>
            <a:off x="6126480" y="1554480"/>
            <a:ext cx="2514600" cy="640080"/>
          </a:xfrm>
          <a:prstGeom prst="rect">
            <a:avLst/>
          </a:prstGeom>
          <a:noFill/>
          <a:ln/>
        </p:spPr>
        <p:txBody>
          <a:bodyPr wrap="square" lIns="0" tIns="0" rIns="0" bIns="0" rtlCol="0" anchor="t"/>
          <a:lstStyle/>
          <a:p>
            <a:pPr marL="0" indent="0" algn="ctr">
              <a:buNone/>
            </a:pPr>
            <a:r>
              <a:rPr lang="en-US" sz="3600" b="1" dirty="0">
                <a:solidFill>
                  <a:srgbClr val="FFFFFF"/>
                </a:solidFill>
                <a:latin typeface="Cambria" pitchFamily="34" charset="0"/>
                <a:ea typeface="Cambria" pitchFamily="34" charset="-122"/>
                <a:cs typeface="Cambria" pitchFamily="34" charset="-120"/>
              </a:rPr>
              <a:t>36.28%</a:t>
            </a:r>
            <a:endParaRPr lang="en-US" sz="3600" dirty="0"/>
          </a:p>
        </p:txBody>
      </p:sp>
      <p:sp>
        <p:nvSpPr>
          <p:cNvPr id="7" name="Text 4"/>
          <p:cNvSpPr txBox="1"/>
          <p:nvPr/>
        </p:nvSpPr>
        <p:spPr>
          <a:xfrm>
            <a:off x="6126480" y="2194560"/>
            <a:ext cx="2514600" cy="274320"/>
          </a:xfrm>
          <a:prstGeom prst="rect">
            <a:avLst/>
          </a:prstGeom>
          <a:noFill/>
          <a:ln/>
        </p:spPr>
        <p:txBody>
          <a:bodyPr wrap="square" lIns="0" tIns="0" rIns="0" bIns="0" rtlCol="0" anchor="t"/>
          <a:lstStyle/>
          <a:p>
            <a:pPr marL="0" indent="0" algn="ctr">
              <a:buNone/>
            </a:pPr>
            <a:r>
              <a:rPr lang="en-US" sz="1200" dirty="0">
                <a:solidFill>
                  <a:srgbClr val="CFE0EE"/>
                </a:solidFill>
                <a:latin typeface="Calibri" pitchFamily="34" charset="0"/>
                <a:ea typeface="Calibri" pitchFamily="34" charset="-122"/>
                <a:cs typeface="Calibri" pitchFamily="34" charset="-120"/>
              </a:rPr>
              <a:t>of shipments arrive on time</a:t>
            </a:r>
            <a:endParaRPr lang="en-US" sz="1200" dirty="0"/>
          </a:p>
        </p:txBody>
      </p:sp>
      <p:sp>
        <p:nvSpPr>
          <p:cNvPr id="8" name="Text 5"/>
          <p:cNvSpPr txBox="1"/>
          <p:nvPr/>
        </p:nvSpPr>
        <p:spPr>
          <a:xfrm>
            <a:off x="6263640" y="2651760"/>
            <a:ext cx="2286000" cy="192024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3,186 shipments delayed; 1,965 are 5 to 7 days late</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Best warehouse W01: 41.3%</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Workload and stock level do not explain delays</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Kano customers worst (34.3%), Lagos best (39.0%)</a:t>
            </a:r>
            <a:endParaRPr lang="en-US" sz="1150" dirty="0"/>
          </a:p>
        </p:txBody>
      </p:sp>
      <p:pic>
        <p:nvPicPr>
          <p:cNvPr id="9" name="Picture 8">
            <a:extLst>
              <a:ext uri="{FF2B5EF4-FFF2-40B4-BE49-F238E27FC236}">
                <a16:creationId xmlns:a16="http://schemas.microsoft.com/office/drawing/2014/main" id="{66737904-0E95-1325-FA5C-01430799C5A8}"/>
              </a:ext>
            </a:extLst>
          </p:cNvPr>
          <p:cNvPicPr>
            <a:picLocks noChangeAspect="1"/>
          </p:cNvPicPr>
          <p:nvPr/>
        </p:nvPicPr>
        <p:blipFill>
          <a:blip r:embed="rId4"/>
          <a:stretch>
            <a:fillRect/>
          </a:stretch>
        </p:blipFill>
        <p:spPr>
          <a:xfrm>
            <a:off x="7239000" y="-85725"/>
            <a:ext cx="1657350" cy="16573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marL="0" indent="0">
              <a:buNone/>
            </a:pPr>
            <a:r>
              <a:rPr lang="en-US" sz="2800" b="1" dirty="0">
                <a:solidFill>
                  <a:srgbClr val="0B3C5D"/>
                </a:solidFill>
                <a:latin typeface="Cambria" pitchFamily="34" charset="0"/>
                <a:ea typeface="Cambria" pitchFamily="34" charset="-122"/>
                <a:cs typeface="Cambria" pitchFamily="34" charset="-120"/>
              </a:rPr>
              <a:t>Insight 2: only a third of orders are delivered</a:t>
            </a:r>
            <a:endParaRPr lang="en-US" sz="2800" dirty="0"/>
          </a:p>
        </p:txBody>
      </p:sp>
      <p:sp>
        <p:nvSpPr>
          <p:cNvPr id="3" name="Text 1"/>
          <p:cNvSpPr txBox="1"/>
          <p:nvPr/>
        </p:nvSpPr>
        <p:spPr>
          <a:xfrm>
            <a:off x="548640" y="896112"/>
            <a:ext cx="8046720" cy="36576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Cancelled and pending orders hold two thirds of order value</a:t>
            </a:r>
            <a:endParaRPr lang="en-US" sz="1400" dirty="0"/>
          </a:p>
        </p:txBody>
      </p:sp>
      <p:graphicFrame>
        <p:nvGraphicFramePr>
          <p:cNvPr id="4" name="Chart 0"/>
          <p:cNvGraphicFramePr/>
          <p:nvPr/>
        </p:nvGraphicFramePr>
        <p:xfrm>
          <a:off x="457200" y="1371600"/>
          <a:ext cx="42062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4937760" y="1417320"/>
            <a:ext cx="3703320" cy="777240"/>
          </a:xfrm>
          <a:prstGeom prst="roundRect">
            <a:avLst>
              <a:gd name="adj" fmla="val 11765"/>
            </a:avLst>
          </a:prstGeom>
          <a:solidFill>
            <a:srgbClr val="EEF3F8"/>
          </a:solidFill>
          <a:ln w="12700">
            <a:solidFill>
              <a:srgbClr val="EEF3F8"/>
            </a:solidFill>
            <a:prstDash val="solid"/>
          </a:ln>
        </p:spPr>
      </p:sp>
      <p:sp>
        <p:nvSpPr>
          <p:cNvPr id="6" name="Shape 3"/>
          <p:cNvSpPr/>
          <p:nvPr/>
        </p:nvSpPr>
        <p:spPr>
          <a:xfrm>
            <a:off x="4937760" y="1508760"/>
            <a:ext cx="64008" cy="594360"/>
          </a:xfrm>
          <a:prstGeom prst="rect">
            <a:avLst/>
          </a:prstGeom>
          <a:solidFill>
            <a:srgbClr val="1D7874"/>
          </a:solidFill>
          <a:ln w="12700">
            <a:solidFill>
              <a:srgbClr val="1D7874"/>
            </a:solidFill>
            <a:prstDash val="solid"/>
          </a:ln>
        </p:spPr>
      </p:sp>
      <p:sp>
        <p:nvSpPr>
          <p:cNvPr id="7" name="Text 4"/>
          <p:cNvSpPr txBox="1"/>
          <p:nvPr/>
        </p:nvSpPr>
        <p:spPr>
          <a:xfrm>
            <a:off x="5120640" y="1490472"/>
            <a:ext cx="1554480" cy="630936"/>
          </a:xfrm>
          <a:prstGeom prst="rect">
            <a:avLst/>
          </a:prstGeom>
          <a:noFill/>
          <a:ln/>
        </p:spPr>
        <p:txBody>
          <a:bodyPr wrap="square" lIns="0" tIns="0" rIns="0" bIns="0" rtlCol="0" anchor="ctr"/>
          <a:lstStyle/>
          <a:p>
            <a:pPr marL="0" indent="0">
              <a:buNone/>
            </a:pPr>
            <a:r>
              <a:rPr lang="en-US" sz="2200" b="1" dirty="0">
                <a:solidFill>
                  <a:srgbClr val="1D7874"/>
                </a:solidFill>
                <a:latin typeface="Cambria" pitchFamily="34" charset="0"/>
                <a:ea typeface="Cambria" pitchFamily="34" charset="-122"/>
                <a:cs typeface="Cambria" pitchFamily="34" charset="-120"/>
              </a:rPr>
              <a:t>₦7.11M</a:t>
            </a:r>
            <a:endParaRPr lang="en-US" sz="2200" dirty="0"/>
          </a:p>
        </p:txBody>
      </p:sp>
      <p:sp>
        <p:nvSpPr>
          <p:cNvPr id="8" name="Text 5"/>
          <p:cNvSpPr txBox="1"/>
          <p:nvPr/>
        </p:nvSpPr>
        <p:spPr>
          <a:xfrm>
            <a:off x="6675120" y="1490472"/>
            <a:ext cx="1920240" cy="630936"/>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Delivered order value</a:t>
            </a:r>
            <a:endParaRPr lang="en-US" sz="1200" dirty="0"/>
          </a:p>
        </p:txBody>
      </p:sp>
      <p:sp>
        <p:nvSpPr>
          <p:cNvPr id="9" name="Shape 6"/>
          <p:cNvSpPr/>
          <p:nvPr/>
        </p:nvSpPr>
        <p:spPr>
          <a:xfrm>
            <a:off x="4937760" y="2331720"/>
            <a:ext cx="3703320" cy="777240"/>
          </a:xfrm>
          <a:prstGeom prst="roundRect">
            <a:avLst>
              <a:gd name="adj" fmla="val 11765"/>
            </a:avLst>
          </a:prstGeom>
          <a:solidFill>
            <a:srgbClr val="EEF3F8"/>
          </a:solidFill>
          <a:ln w="12700">
            <a:solidFill>
              <a:srgbClr val="EEF3F8"/>
            </a:solidFill>
            <a:prstDash val="solid"/>
          </a:ln>
        </p:spPr>
      </p:sp>
      <p:sp>
        <p:nvSpPr>
          <p:cNvPr id="10" name="Shape 7"/>
          <p:cNvSpPr/>
          <p:nvPr/>
        </p:nvSpPr>
        <p:spPr>
          <a:xfrm>
            <a:off x="4937760" y="2423160"/>
            <a:ext cx="64008" cy="594360"/>
          </a:xfrm>
          <a:prstGeom prst="rect">
            <a:avLst/>
          </a:prstGeom>
          <a:solidFill>
            <a:srgbClr val="F28C28"/>
          </a:solidFill>
          <a:ln w="12700">
            <a:solidFill>
              <a:srgbClr val="F28C28"/>
            </a:solidFill>
            <a:prstDash val="solid"/>
          </a:ln>
        </p:spPr>
      </p:sp>
      <p:sp>
        <p:nvSpPr>
          <p:cNvPr id="11" name="Text 8"/>
          <p:cNvSpPr txBox="1"/>
          <p:nvPr/>
        </p:nvSpPr>
        <p:spPr>
          <a:xfrm>
            <a:off x="5120640" y="2404872"/>
            <a:ext cx="1554480" cy="630936"/>
          </a:xfrm>
          <a:prstGeom prst="rect">
            <a:avLst/>
          </a:prstGeom>
          <a:noFill/>
          <a:ln/>
        </p:spPr>
        <p:txBody>
          <a:bodyPr wrap="square" lIns="0" tIns="0" rIns="0" bIns="0" rtlCol="0" anchor="ctr"/>
          <a:lstStyle/>
          <a:p>
            <a:pPr marL="0" indent="0">
              <a:buNone/>
            </a:pPr>
            <a:r>
              <a:rPr lang="en-US" sz="2200" b="1" dirty="0">
                <a:solidFill>
                  <a:srgbClr val="F28C28"/>
                </a:solidFill>
                <a:latin typeface="Cambria" pitchFamily="34" charset="0"/>
                <a:ea typeface="Cambria" pitchFamily="34" charset="-122"/>
                <a:cs typeface="Cambria" pitchFamily="34" charset="-120"/>
              </a:rPr>
              <a:t>₦7.33M</a:t>
            </a:r>
            <a:endParaRPr lang="en-US" sz="2200" dirty="0"/>
          </a:p>
        </p:txBody>
      </p:sp>
      <p:sp>
        <p:nvSpPr>
          <p:cNvPr id="12" name="Text 9"/>
          <p:cNvSpPr txBox="1"/>
          <p:nvPr/>
        </p:nvSpPr>
        <p:spPr>
          <a:xfrm>
            <a:off x="6675120" y="2404872"/>
            <a:ext cx="1920240" cy="630936"/>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Pending order value</a:t>
            </a:r>
            <a:endParaRPr lang="en-US" sz="1200" dirty="0"/>
          </a:p>
        </p:txBody>
      </p:sp>
      <p:sp>
        <p:nvSpPr>
          <p:cNvPr id="13" name="Shape 10"/>
          <p:cNvSpPr/>
          <p:nvPr/>
        </p:nvSpPr>
        <p:spPr>
          <a:xfrm>
            <a:off x="4937760" y="3246120"/>
            <a:ext cx="3703320" cy="777240"/>
          </a:xfrm>
          <a:prstGeom prst="roundRect">
            <a:avLst>
              <a:gd name="adj" fmla="val 11765"/>
            </a:avLst>
          </a:prstGeom>
          <a:solidFill>
            <a:srgbClr val="EEF3F8"/>
          </a:solidFill>
          <a:ln w="12700">
            <a:solidFill>
              <a:srgbClr val="EEF3F8"/>
            </a:solidFill>
            <a:prstDash val="solid"/>
          </a:ln>
        </p:spPr>
      </p:sp>
      <p:sp>
        <p:nvSpPr>
          <p:cNvPr id="14" name="Shape 11"/>
          <p:cNvSpPr/>
          <p:nvPr/>
        </p:nvSpPr>
        <p:spPr>
          <a:xfrm>
            <a:off x="4937760" y="3337560"/>
            <a:ext cx="64008" cy="594360"/>
          </a:xfrm>
          <a:prstGeom prst="rect">
            <a:avLst/>
          </a:prstGeom>
          <a:solidFill>
            <a:srgbClr val="C0392B"/>
          </a:solidFill>
          <a:ln w="12700">
            <a:solidFill>
              <a:srgbClr val="C0392B"/>
            </a:solidFill>
            <a:prstDash val="solid"/>
          </a:ln>
        </p:spPr>
      </p:sp>
      <p:sp>
        <p:nvSpPr>
          <p:cNvPr id="15" name="Text 12"/>
          <p:cNvSpPr txBox="1"/>
          <p:nvPr/>
        </p:nvSpPr>
        <p:spPr>
          <a:xfrm>
            <a:off x="5120640" y="3319272"/>
            <a:ext cx="1554480" cy="630936"/>
          </a:xfrm>
          <a:prstGeom prst="rect">
            <a:avLst/>
          </a:prstGeom>
          <a:noFill/>
          <a:ln/>
        </p:spPr>
        <p:txBody>
          <a:bodyPr wrap="square" lIns="0" tIns="0" rIns="0" bIns="0" rtlCol="0" anchor="ctr"/>
          <a:lstStyle/>
          <a:p>
            <a:pPr marL="0" indent="0">
              <a:buNone/>
            </a:pPr>
            <a:r>
              <a:rPr lang="en-US" sz="2200" b="1" dirty="0">
                <a:solidFill>
                  <a:srgbClr val="C0392B"/>
                </a:solidFill>
                <a:latin typeface="Cambria" pitchFamily="34" charset="0"/>
                <a:ea typeface="Cambria" pitchFamily="34" charset="-122"/>
                <a:cs typeface="Cambria" pitchFamily="34" charset="-120"/>
              </a:rPr>
              <a:t>₦7.23M</a:t>
            </a:r>
            <a:endParaRPr lang="en-US" sz="2200" dirty="0"/>
          </a:p>
        </p:txBody>
      </p:sp>
      <p:sp>
        <p:nvSpPr>
          <p:cNvPr id="16" name="Text 13"/>
          <p:cNvSpPr txBox="1"/>
          <p:nvPr/>
        </p:nvSpPr>
        <p:spPr>
          <a:xfrm>
            <a:off x="6675120" y="3319272"/>
            <a:ext cx="1920240" cy="630936"/>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Cancelled order value</a:t>
            </a:r>
            <a:endParaRPr lang="en-US" sz="1200" dirty="0"/>
          </a:p>
        </p:txBody>
      </p:sp>
      <p:sp>
        <p:nvSpPr>
          <p:cNvPr id="17" name="Text 14"/>
          <p:cNvSpPr txBox="1"/>
          <p:nvPr/>
        </p:nvSpPr>
        <p:spPr>
          <a:xfrm>
            <a:off x="4937760" y="4206240"/>
            <a:ext cx="3703320" cy="640080"/>
          </a:xfrm>
          <a:prstGeom prst="rect">
            <a:avLst/>
          </a:prstGeom>
          <a:noFill/>
          <a:ln/>
        </p:spPr>
        <p:txBody>
          <a:bodyPr wrap="square" lIns="0" tIns="0" rIns="0" bIns="0" rtlCol="0" anchor="t"/>
          <a:lstStyle/>
          <a:p>
            <a:pPr marL="0" indent="0">
              <a:buNone/>
            </a:pPr>
            <a:r>
              <a:rPr lang="en-US" sz="1200" b="1" dirty="0">
                <a:solidFill>
                  <a:srgbClr val="0B3C5D"/>
                </a:solidFill>
                <a:latin typeface="Calibri" pitchFamily="34" charset="0"/>
                <a:ea typeface="Calibri" pitchFamily="34" charset="-122"/>
                <a:cs typeface="Calibri" pitchFamily="34" charset="-120"/>
              </a:rPr>
              <a:t>Every one of the 3,342 cancelled or pending orders still has a shipment, so SwiftLog pays to ship orders that are not completed.</a:t>
            </a:r>
            <a:endParaRPr lang="en-US" sz="1200" dirty="0"/>
          </a:p>
        </p:txBody>
      </p:sp>
      <p:pic>
        <p:nvPicPr>
          <p:cNvPr id="18" name="Picture 17">
            <a:extLst>
              <a:ext uri="{FF2B5EF4-FFF2-40B4-BE49-F238E27FC236}">
                <a16:creationId xmlns:a16="http://schemas.microsoft.com/office/drawing/2014/main" id="{717EC32F-3376-C2DD-F3C5-01A003A59698}"/>
              </a:ext>
            </a:extLst>
          </p:cNvPr>
          <p:cNvPicPr>
            <a:picLocks noChangeAspect="1"/>
          </p:cNvPicPr>
          <p:nvPr/>
        </p:nvPicPr>
        <p:blipFill>
          <a:blip r:embed="rId4"/>
          <a:stretch>
            <a:fillRect/>
          </a:stretch>
        </p:blipFill>
        <p:spPr>
          <a:xfrm>
            <a:off x="7711440" y="386715"/>
            <a:ext cx="1184910" cy="11849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marL="0" indent="0">
              <a:buNone/>
            </a:pPr>
            <a:r>
              <a:rPr lang="en-US" sz="2800" b="1" dirty="0">
                <a:solidFill>
                  <a:srgbClr val="0B3C5D"/>
                </a:solidFill>
                <a:latin typeface="Cambria" pitchFamily="34" charset="0"/>
                <a:ea typeface="Cambria" pitchFamily="34" charset="-122"/>
                <a:cs typeface="Cambria" pitchFamily="34" charset="-120"/>
              </a:rPr>
              <a:t>Insight 3: stock is high but badly spread</a:t>
            </a:r>
            <a:endParaRPr lang="en-US" sz="2800" dirty="0"/>
          </a:p>
        </p:txBody>
      </p:sp>
      <p:sp>
        <p:nvSpPr>
          <p:cNvPr id="3" name="Text 1"/>
          <p:cNvSpPr txBox="1"/>
          <p:nvPr/>
        </p:nvSpPr>
        <p:spPr>
          <a:xfrm>
            <a:off x="548640" y="896112"/>
            <a:ext cx="8046720" cy="36576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12 times the stock needed, yet 160 products run short somewhere</a:t>
            </a:r>
            <a:endParaRPr lang="en-US" sz="1400" dirty="0"/>
          </a:p>
        </p:txBody>
      </p:sp>
      <p:graphicFrame>
        <p:nvGraphicFramePr>
          <p:cNvPr id="4" name="Chart 0"/>
          <p:cNvGraphicFramePr/>
          <p:nvPr/>
        </p:nvGraphicFramePr>
        <p:xfrm>
          <a:off x="457200" y="1371600"/>
          <a:ext cx="47548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486400" y="1417320"/>
            <a:ext cx="3154680" cy="960120"/>
          </a:xfrm>
          <a:prstGeom prst="roundRect">
            <a:avLst>
              <a:gd name="adj" fmla="val 9524"/>
            </a:avLst>
          </a:prstGeom>
          <a:solidFill>
            <a:srgbClr val="EEF3F8"/>
          </a:solidFill>
          <a:ln w="12700">
            <a:solidFill>
              <a:srgbClr val="EEF3F8"/>
            </a:solidFill>
            <a:prstDash val="solid"/>
          </a:ln>
        </p:spPr>
      </p:sp>
      <p:sp>
        <p:nvSpPr>
          <p:cNvPr id="6" name="Text 3"/>
          <p:cNvSpPr txBox="1"/>
          <p:nvPr/>
        </p:nvSpPr>
        <p:spPr>
          <a:xfrm>
            <a:off x="5577840" y="1508760"/>
            <a:ext cx="1371600" cy="777240"/>
          </a:xfrm>
          <a:prstGeom prst="rect">
            <a:avLst/>
          </a:prstGeom>
          <a:noFill/>
          <a:ln/>
        </p:spPr>
        <p:txBody>
          <a:bodyPr wrap="square" lIns="0" tIns="0" rIns="0" bIns="0" rtlCol="0" anchor="ctr"/>
          <a:lstStyle/>
          <a:p>
            <a:pPr marL="0" indent="0">
              <a:buNone/>
            </a:pPr>
            <a:r>
              <a:rPr lang="en-US" sz="2600" b="1" dirty="0">
                <a:solidFill>
                  <a:srgbClr val="F28C28"/>
                </a:solidFill>
                <a:latin typeface="Cambria" pitchFamily="34" charset="0"/>
                <a:ea typeface="Cambria" pitchFamily="34" charset="-122"/>
                <a:cs typeface="Cambria" pitchFamily="34" charset="-120"/>
              </a:rPr>
              <a:t>0.027</a:t>
            </a:r>
            <a:endParaRPr lang="en-US" sz="2600" dirty="0"/>
          </a:p>
        </p:txBody>
      </p:sp>
      <p:sp>
        <p:nvSpPr>
          <p:cNvPr id="7" name="Text 4"/>
          <p:cNvSpPr txBox="1"/>
          <p:nvPr/>
        </p:nvSpPr>
        <p:spPr>
          <a:xfrm>
            <a:off x="6949440" y="1508760"/>
            <a:ext cx="1645920" cy="777240"/>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Inventory turnover</a:t>
            </a:r>
            <a:endParaRPr lang="en-US" sz="1200" dirty="0"/>
          </a:p>
        </p:txBody>
      </p:sp>
      <p:sp>
        <p:nvSpPr>
          <p:cNvPr id="8" name="Shape 5"/>
          <p:cNvSpPr/>
          <p:nvPr/>
        </p:nvSpPr>
        <p:spPr>
          <a:xfrm>
            <a:off x="5486400" y="2514600"/>
            <a:ext cx="3154680" cy="960120"/>
          </a:xfrm>
          <a:prstGeom prst="roundRect">
            <a:avLst>
              <a:gd name="adj" fmla="val 9524"/>
            </a:avLst>
          </a:prstGeom>
          <a:solidFill>
            <a:srgbClr val="EEF3F8"/>
          </a:solidFill>
          <a:ln w="12700">
            <a:solidFill>
              <a:srgbClr val="EEF3F8"/>
            </a:solidFill>
            <a:prstDash val="solid"/>
          </a:ln>
        </p:spPr>
      </p:sp>
      <p:sp>
        <p:nvSpPr>
          <p:cNvPr id="9" name="Text 6"/>
          <p:cNvSpPr txBox="1"/>
          <p:nvPr/>
        </p:nvSpPr>
        <p:spPr>
          <a:xfrm>
            <a:off x="5577840" y="2606040"/>
            <a:ext cx="1371600" cy="777240"/>
          </a:xfrm>
          <a:prstGeom prst="rect">
            <a:avLst/>
          </a:prstGeom>
          <a:noFill/>
          <a:ln/>
        </p:spPr>
        <p:txBody>
          <a:bodyPr wrap="square" lIns="0" tIns="0" rIns="0" bIns="0" rtlCol="0" anchor="ctr"/>
          <a:lstStyle/>
          <a:p>
            <a:pPr marL="0" indent="0">
              <a:buNone/>
            </a:pPr>
            <a:r>
              <a:rPr lang="en-US" sz="2600" b="1" dirty="0">
                <a:solidFill>
                  <a:srgbClr val="F28C28"/>
                </a:solidFill>
                <a:latin typeface="Cambria" pitchFamily="34" charset="0"/>
                <a:ea typeface="Cambria" pitchFamily="34" charset="-122"/>
                <a:cs typeface="Cambria" pitchFamily="34" charset="-120"/>
              </a:rPr>
              <a:t>12.2x</a:t>
            </a:r>
            <a:endParaRPr lang="en-US" sz="2600" dirty="0"/>
          </a:p>
        </p:txBody>
      </p:sp>
      <p:sp>
        <p:nvSpPr>
          <p:cNvPr id="10" name="Text 7"/>
          <p:cNvSpPr txBox="1"/>
          <p:nvPr/>
        </p:nvSpPr>
        <p:spPr>
          <a:xfrm>
            <a:off x="6949440" y="2606040"/>
            <a:ext cx="1645920" cy="777240"/>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Stock vs units ordered</a:t>
            </a:r>
            <a:endParaRPr lang="en-US" sz="1200" dirty="0"/>
          </a:p>
        </p:txBody>
      </p:sp>
      <p:sp>
        <p:nvSpPr>
          <p:cNvPr id="11" name="Shape 8"/>
          <p:cNvSpPr/>
          <p:nvPr/>
        </p:nvSpPr>
        <p:spPr>
          <a:xfrm>
            <a:off x="5486400" y="3611880"/>
            <a:ext cx="3154680" cy="960120"/>
          </a:xfrm>
          <a:prstGeom prst="roundRect">
            <a:avLst>
              <a:gd name="adj" fmla="val 9524"/>
            </a:avLst>
          </a:prstGeom>
          <a:solidFill>
            <a:srgbClr val="EEF3F8"/>
          </a:solidFill>
          <a:ln w="12700">
            <a:solidFill>
              <a:srgbClr val="EEF3F8"/>
            </a:solidFill>
            <a:prstDash val="solid"/>
          </a:ln>
        </p:spPr>
      </p:sp>
      <p:sp>
        <p:nvSpPr>
          <p:cNvPr id="12" name="Text 9"/>
          <p:cNvSpPr txBox="1"/>
          <p:nvPr/>
        </p:nvSpPr>
        <p:spPr>
          <a:xfrm>
            <a:off x="5577840" y="3703320"/>
            <a:ext cx="1371600" cy="777240"/>
          </a:xfrm>
          <a:prstGeom prst="rect">
            <a:avLst/>
          </a:prstGeom>
          <a:noFill/>
          <a:ln/>
        </p:spPr>
        <p:txBody>
          <a:bodyPr wrap="square" lIns="0" tIns="0" rIns="0" bIns="0" rtlCol="0" anchor="ctr"/>
          <a:lstStyle/>
          <a:p>
            <a:pPr marL="0" indent="0">
              <a:buNone/>
            </a:pPr>
            <a:r>
              <a:rPr lang="en-US" sz="2600" b="1" dirty="0">
                <a:solidFill>
                  <a:srgbClr val="F28C28"/>
                </a:solidFill>
                <a:latin typeface="Cambria" pitchFamily="34" charset="0"/>
                <a:ea typeface="Cambria" pitchFamily="34" charset="-122"/>
                <a:cs typeface="Cambria" pitchFamily="34" charset="-120"/>
              </a:rPr>
              <a:t>160</a:t>
            </a:r>
            <a:endParaRPr lang="en-US" sz="2600" dirty="0"/>
          </a:p>
        </p:txBody>
      </p:sp>
      <p:sp>
        <p:nvSpPr>
          <p:cNvPr id="13" name="Text 10"/>
          <p:cNvSpPr txBox="1"/>
          <p:nvPr/>
        </p:nvSpPr>
        <p:spPr>
          <a:xfrm>
            <a:off x="6949440" y="3703320"/>
            <a:ext cx="1645920" cy="777240"/>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Products with a warehouse under 100 units</a:t>
            </a:r>
            <a:endParaRPr lang="en-US" sz="1200" dirty="0"/>
          </a:p>
        </p:txBody>
      </p:sp>
      <p:sp>
        <p:nvSpPr>
          <p:cNvPr id="14" name="Text 11"/>
          <p:cNvSpPr txBox="1"/>
          <p:nvPr/>
        </p:nvSpPr>
        <p:spPr>
          <a:xfrm>
            <a:off x="5486400" y="4572000"/>
            <a:ext cx="3154680" cy="365760"/>
          </a:xfrm>
          <a:prstGeom prst="rect">
            <a:avLst/>
          </a:prstGeom>
          <a:noFill/>
          <a:ln/>
        </p:spPr>
        <p:txBody>
          <a:bodyPr wrap="square" lIns="0" tIns="0" rIns="0" bIns="0" rtlCol="0" anchor="t"/>
          <a:lstStyle/>
          <a:p>
            <a:pPr marL="0" indent="0">
              <a:buNone/>
            </a:pPr>
            <a:r>
              <a:rPr lang="en-US" sz="1050" i="1" dirty="0">
                <a:solidFill>
                  <a:srgbClr val="5B6475"/>
                </a:solidFill>
                <a:latin typeface="Calibri" pitchFamily="34" charset="0"/>
                <a:ea typeface="Calibri" pitchFamily="34" charset="-122"/>
                <a:cs typeface="Calibri" pitchFamily="34" charset="-120"/>
              </a:rPr>
              <a:t>Stock figures are summed stock movements and need a physical count to confirm.</a:t>
            </a:r>
            <a:endParaRPr lang="en-US" sz="1050" dirty="0"/>
          </a:p>
        </p:txBody>
      </p:sp>
      <p:pic>
        <p:nvPicPr>
          <p:cNvPr id="15" name="Picture 14">
            <a:extLst>
              <a:ext uri="{FF2B5EF4-FFF2-40B4-BE49-F238E27FC236}">
                <a16:creationId xmlns:a16="http://schemas.microsoft.com/office/drawing/2014/main" id="{B16B4680-1732-70B0-A0AE-A00C1328C1DB}"/>
              </a:ext>
            </a:extLst>
          </p:cNvPr>
          <p:cNvPicPr>
            <a:picLocks noChangeAspect="1"/>
          </p:cNvPicPr>
          <p:nvPr/>
        </p:nvPicPr>
        <p:blipFill>
          <a:blip r:embed="rId4"/>
          <a:stretch>
            <a:fillRect/>
          </a:stretch>
        </p:blipFill>
        <p:spPr>
          <a:xfrm>
            <a:off x="7239000" y="-85725"/>
            <a:ext cx="1657350" cy="16573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marL="0" indent="0">
              <a:buNone/>
            </a:pPr>
            <a:r>
              <a:rPr lang="en-US" sz="2800" b="1" dirty="0">
                <a:solidFill>
                  <a:srgbClr val="0B3C5D"/>
                </a:solidFill>
                <a:latin typeface="Cambria" pitchFamily="34" charset="0"/>
                <a:ea typeface="Cambria" pitchFamily="34" charset="-122"/>
                <a:cs typeface="Cambria" pitchFamily="34" charset="-120"/>
              </a:rPr>
              <a:t>Insight 4: customers, products and returns</a:t>
            </a:r>
            <a:endParaRPr lang="en-US" sz="2800" dirty="0"/>
          </a:p>
        </p:txBody>
      </p:sp>
      <p:sp>
        <p:nvSpPr>
          <p:cNvPr id="3" name="Text 1"/>
          <p:cNvSpPr txBox="1"/>
          <p:nvPr/>
        </p:nvSpPr>
        <p:spPr>
          <a:xfrm>
            <a:off x="548640" y="896112"/>
            <a:ext cx="8046720" cy="36576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Revenue is spread wide; returns come from handling errors</a:t>
            </a:r>
            <a:endParaRPr lang="en-US" sz="1400" dirty="0"/>
          </a:p>
        </p:txBody>
      </p:sp>
      <p:sp>
        <p:nvSpPr>
          <p:cNvPr id="4" name="Shape 2"/>
          <p:cNvSpPr/>
          <p:nvPr/>
        </p:nvSpPr>
        <p:spPr>
          <a:xfrm>
            <a:off x="548640" y="1417320"/>
            <a:ext cx="4297680" cy="731520"/>
          </a:xfrm>
          <a:prstGeom prst="roundRect">
            <a:avLst>
              <a:gd name="adj" fmla="val 12500"/>
            </a:avLst>
          </a:prstGeom>
          <a:solidFill>
            <a:srgbClr val="EEF3F8"/>
          </a:solidFill>
          <a:ln w="12700">
            <a:solidFill>
              <a:srgbClr val="EEF3F8"/>
            </a:solidFill>
            <a:prstDash val="solid"/>
          </a:ln>
        </p:spPr>
      </p:sp>
      <p:sp>
        <p:nvSpPr>
          <p:cNvPr id="5" name="Text 3"/>
          <p:cNvSpPr txBox="1"/>
          <p:nvPr/>
        </p:nvSpPr>
        <p:spPr>
          <a:xfrm>
            <a:off x="685800" y="1463040"/>
            <a:ext cx="1371600" cy="640080"/>
          </a:xfrm>
          <a:prstGeom prst="rect">
            <a:avLst/>
          </a:prstGeom>
          <a:noFill/>
          <a:ln/>
        </p:spPr>
        <p:txBody>
          <a:bodyPr wrap="square" lIns="0" tIns="0" rIns="0" bIns="0" rtlCol="0" anchor="ctr"/>
          <a:lstStyle/>
          <a:p>
            <a:pPr marL="0" indent="0">
              <a:buNone/>
            </a:pPr>
            <a:r>
              <a:rPr lang="en-US" sz="2400" b="1" dirty="0">
                <a:solidFill>
                  <a:srgbClr val="0B3C5D"/>
                </a:solidFill>
                <a:latin typeface="Cambria" pitchFamily="34" charset="0"/>
                <a:ea typeface="Cambria" pitchFamily="34" charset="-122"/>
                <a:cs typeface="Cambria" pitchFamily="34" charset="-120"/>
              </a:rPr>
              <a:t>5.05%</a:t>
            </a:r>
            <a:endParaRPr lang="en-US" sz="2400" dirty="0"/>
          </a:p>
        </p:txBody>
      </p:sp>
      <p:sp>
        <p:nvSpPr>
          <p:cNvPr id="6" name="Text 4"/>
          <p:cNvSpPr txBox="1"/>
          <p:nvPr/>
        </p:nvSpPr>
        <p:spPr>
          <a:xfrm>
            <a:off x="2103120" y="1463040"/>
            <a:ext cx="2651760" cy="640080"/>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of delivered revenue from the top 10 customers</a:t>
            </a:r>
            <a:endParaRPr lang="en-US" sz="1200" dirty="0"/>
          </a:p>
        </p:txBody>
      </p:sp>
      <p:sp>
        <p:nvSpPr>
          <p:cNvPr id="7" name="Shape 5"/>
          <p:cNvSpPr/>
          <p:nvPr/>
        </p:nvSpPr>
        <p:spPr>
          <a:xfrm>
            <a:off x="548640" y="2267712"/>
            <a:ext cx="4297680" cy="731520"/>
          </a:xfrm>
          <a:prstGeom prst="roundRect">
            <a:avLst>
              <a:gd name="adj" fmla="val 12500"/>
            </a:avLst>
          </a:prstGeom>
          <a:solidFill>
            <a:srgbClr val="EEF3F8"/>
          </a:solidFill>
          <a:ln w="12700">
            <a:solidFill>
              <a:srgbClr val="EEF3F8"/>
            </a:solidFill>
            <a:prstDash val="solid"/>
          </a:ln>
        </p:spPr>
      </p:sp>
      <p:sp>
        <p:nvSpPr>
          <p:cNvPr id="8" name="Text 6"/>
          <p:cNvSpPr txBox="1"/>
          <p:nvPr/>
        </p:nvSpPr>
        <p:spPr>
          <a:xfrm>
            <a:off x="685800" y="2313432"/>
            <a:ext cx="1371600" cy="640080"/>
          </a:xfrm>
          <a:prstGeom prst="rect">
            <a:avLst/>
          </a:prstGeom>
          <a:noFill/>
          <a:ln/>
        </p:spPr>
        <p:txBody>
          <a:bodyPr wrap="square" lIns="0" tIns="0" rIns="0" bIns="0" rtlCol="0" anchor="ctr"/>
          <a:lstStyle/>
          <a:p>
            <a:pPr marL="0" indent="0">
              <a:buNone/>
            </a:pPr>
            <a:r>
              <a:rPr lang="en-US" sz="2400" b="1" dirty="0">
                <a:solidFill>
                  <a:srgbClr val="0B3C5D"/>
                </a:solidFill>
                <a:latin typeface="Cambria" pitchFamily="34" charset="0"/>
                <a:ea typeface="Cambria" pitchFamily="34" charset="-122"/>
                <a:cs typeface="Cambria" pitchFamily="34" charset="-120"/>
              </a:rPr>
              <a:t>52.5%</a:t>
            </a:r>
            <a:endParaRPr lang="en-US" sz="2400" dirty="0"/>
          </a:p>
        </p:txBody>
      </p:sp>
      <p:sp>
        <p:nvSpPr>
          <p:cNvPr id="9" name="Text 7"/>
          <p:cNvSpPr txBox="1"/>
          <p:nvPr/>
        </p:nvSpPr>
        <p:spPr>
          <a:xfrm>
            <a:off x="2103120" y="2313432"/>
            <a:ext cx="2651760" cy="640080"/>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from the top 200 customers (20%)</a:t>
            </a:r>
            <a:endParaRPr lang="en-US" sz="1200" dirty="0"/>
          </a:p>
        </p:txBody>
      </p:sp>
      <p:sp>
        <p:nvSpPr>
          <p:cNvPr id="10" name="Shape 8"/>
          <p:cNvSpPr/>
          <p:nvPr/>
        </p:nvSpPr>
        <p:spPr>
          <a:xfrm>
            <a:off x="548640" y="3118104"/>
            <a:ext cx="4297680" cy="731520"/>
          </a:xfrm>
          <a:prstGeom prst="roundRect">
            <a:avLst>
              <a:gd name="adj" fmla="val 12500"/>
            </a:avLst>
          </a:prstGeom>
          <a:solidFill>
            <a:srgbClr val="EEF3F8"/>
          </a:solidFill>
          <a:ln w="12700">
            <a:solidFill>
              <a:srgbClr val="EEF3F8"/>
            </a:solidFill>
            <a:prstDash val="solid"/>
          </a:ln>
        </p:spPr>
      </p:sp>
      <p:sp>
        <p:nvSpPr>
          <p:cNvPr id="11" name="Text 9"/>
          <p:cNvSpPr txBox="1"/>
          <p:nvPr/>
        </p:nvSpPr>
        <p:spPr>
          <a:xfrm>
            <a:off x="685800" y="3163824"/>
            <a:ext cx="1371600" cy="640080"/>
          </a:xfrm>
          <a:prstGeom prst="rect">
            <a:avLst/>
          </a:prstGeom>
          <a:noFill/>
          <a:ln/>
        </p:spPr>
        <p:txBody>
          <a:bodyPr wrap="square" lIns="0" tIns="0" rIns="0" bIns="0" rtlCol="0" anchor="ctr"/>
          <a:lstStyle/>
          <a:p>
            <a:pPr marL="0" indent="0">
              <a:buNone/>
            </a:pPr>
            <a:r>
              <a:rPr lang="en-US" sz="2400" b="1" dirty="0">
                <a:solidFill>
                  <a:srgbClr val="0B3C5D"/>
                </a:solidFill>
                <a:latin typeface="Cambria" pitchFamily="34" charset="0"/>
                <a:ea typeface="Cambria" pitchFamily="34" charset="-122"/>
                <a:cs typeface="Cambria" pitchFamily="34" charset="-120"/>
              </a:rPr>
              <a:t>38.4%</a:t>
            </a:r>
            <a:endParaRPr lang="en-US" sz="2400" dirty="0"/>
          </a:p>
        </p:txBody>
      </p:sp>
      <p:sp>
        <p:nvSpPr>
          <p:cNvPr id="12" name="Text 10"/>
          <p:cNvSpPr txBox="1"/>
          <p:nvPr/>
        </p:nvSpPr>
        <p:spPr>
          <a:xfrm>
            <a:off x="2103120" y="3163824"/>
            <a:ext cx="2651760" cy="640080"/>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of revenue from Fashion, the top category</a:t>
            </a:r>
            <a:endParaRPr lang="en-US" sz="1200" dirty="0"/>
          </a:p>
        </p:txBody>
      </p:sp>
      <p:sp>
        <p:nvSpPr>
          <p:cNvPr id="13" name="Shape 11"/>
          <p:cNvSpPr/>
          <p:nvPr/>
        </p:nvSpPr>
        <p:spPr>
          <a:xfrm>
            <a:off x="548640" y="3968496"/>
            <a:ext cx="4297680" cy="731520"/>
          </a:xfrm>
          <a:prstGeom prst="roundRect">
            <a:avLst>
              <a:gd name="adj" fmla="val 12500"/>
            </a:avLst>
          </a:prstGeom>
          <a:solidFill>
            <a:srgbClr val="EEF3F8"/>
          </a:solidFill>
          <a:ln w="12700">
            <a:solidFill>
              <a:srgbClr val="EEF3F8"/>
            </a:solidFill>
            <a:prstDash val="solid"/>
          </a:ln>
        </p:spPr>
      </p:sp>
      <p:sp>
        <p:nvSpPr>
          <p:cNvPr id="14" name="Text 12"/>
          <p:cNvSpPr txBox="1"/>
          <p:nvPr/>
        </p:nvSpPr>
        <p:spPr>
          <a:xfrm>
            <a:off x="685800" y="4014216"/>
            <a:ext cx="1371600" cy="640080"/>
          </a:xfrm>
          <a:prstGeom prst="rect">
            <a:avLst/>
          </a:prstGeom>
          <a:noFill/>
          <a:ln/>
        </p:spPr>
        <p:txBody>
          <a:bodyPr wrap="square" lIns="0" tIns="0" rIns="0" bIns="0" rtlCol="0" anchor="ctr"/>
          <a:lstStyle/>
          <a:p>
            <a:pPr marL="0" indent="0">
              <a:buNone/>
            </a:pPr>
            <a:r>
              <a:rPr lang="en-US" sz="2400" b="1" dirty="0">
                <a:solidFill>
                  <a:srgbClr val="0B3C5D"/>
                </a:solidFill>
                <a:latin typeface="Cambria" pitchFamily="34" charset="0"/>
                <a:ea typeface="Cambria" pitchFamily="34" charset="-122"/>
                <a:cs typeface="Cambria" pitchFamily="34" charset="-120"/>
              </a:rPr>
              <a:t>9.85%</a:t>
            </a:r>
            <a:endParaRPr lang="en-US" sz="2400" dirty="0"/>
          </a:p>
        </p:txBody>
      </p:sp>
      <p:sp>
        <p:nvSpPr>
          <p:cNvPr id="15" name="Text 13"/>
          <p:cNvSpPr txBox="1"/>
          <p:nvPr/>
        </p:nvSpPr>
        <p:spPr>
          <a:xfrm>
            <a:off x="2103120" y="4014216"/>
            <a:ext cx="2651760" cy="640080"/>
          </a:xfrm>
          <a:prstGeom prst="rect">
            <a:avLst/>
          </a:prstGeom>
          <a:noFill/>
          <a:ln/>
        </p:spPr>
        <p:txBody>
          <a:bodyPr wrap="square" lIns="0" tIns="0" rIns="0" bIns="0" rtlCol="0" anchor="ctr"/>
          <a:lstStyle/>
          <a:p>
            <a:pPr marL="0" indent="0">
              <a:buNone/>
            </a:pPr>
            <a:r>
              <a:rPr lang="en-US" sz="1200" dirty="0">
                <a:solidFill>
                  <a:srgbClr val="1F2937"/>
                </a:solidFill>
                <a:latin typeface="Calibri" pitchFamily="34" charset="0"/>
                <a:ea typeface="Calibri" pitchFamily="34" charset="-122"/>
                <a:cs typeface="Calibri" pitchFamily="34" charset="-120"/>
              </a:rPr>
              <a:t>from the top 10 products (priced ₦416 to ₦495)</a:t>
            </a:r>
            <a:endParaRPr lang="en-US" sz="1200" dirty="0"/>
          </a:p>
        </p:txBody>
      </p:sp>
      <p:graphicFrame>
        <p:nvGraphicFramePr>
          <p:cNvPr id="16" name="Chart 0"/>
          <p:cNvGraphicFramePr/>
          <p:nvPr/>
        </p:nvGraphicFramePr>
        <p:xfrm>
          <a:off x="5029200" y="1371600"/>
          <a:ext cx="36576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txBox="1"/>
          <p:nvPr/>
        </p:nvSpPr>
        <p:spPr>
          <a:xfrm>
            <a:off x="5029200" y="4160520"/>
            <a:ext cx="3657600" cy="777240"/>
          </a:xfrm>
          <a:prstGeom prst="rect">
            <a:avLst/>
          </a:prstGeom>
          <a:noFill/>
          <a:ln/>
        </p:spPr>
        <p:txBody>
          <a:bodyPr wrap="square" lIns="0" tIns="0" rIns="0" bIns="0" rtlCol="0" anchor="t"/>
          <a:lstStyle/>
          <a:p>
            <a:pPr marL="0" indent="0">
              <a:buNone/>
            </a:pPr>
            <a:r>
              <a:rPr lang="en-US" sz="1200" b="1" dirty="0">
                <a:solidFill>
                  <a:srgbClr val="0B3C5D"/>
                </a:solidFill>
                <a:latin typeface="Calibri" pitchFamily="34" charset="0"/>
                <a:ea typeface="Calibri" pitchFamily="34" charset="-122"/>
                <a:cs typeface="Calibri" pitchFamily="34" charset="-120"/>
              </a:rPr>
              <a:t>Return rate is 9.46% and almost equal in every category, so the cause is process, not product. 63% of returns are Wrong Item or Damaged.</a:t>
            </a:r>
            <a:endParaRPr lang="en-US" sz="1200" dirty="0"/>
          </a:p>
        </p:txBody>
      </p:sp>
      <p:pic>
        <p:nvPicPr>
          <p:cNvPr id="18" name="Picture 17">
            <a:extLst>
              <a:ext uri="{FF2B5EF4-FFF2-40B4-BE49-F238E27FC236}">
                <a16:creationId xmlns:a16="http://schemas.microsoft.com/office/drawing/2014/main" id="{8C8B3FCC-16D8-D6F6-115B-04E0804460A3}"/>
              </a:ext>
            </a:extLst>
          </p:cNvPr>
          <p:cNvPicPr>
            <a:picLocks noChangeAspect="1"/>
          </p:cNvPicPr>
          <p:nvPr/>
        </p:nvPicPr>
        <p:blipFill>
          <a:blip r:embed="rId4"/>
          <a:stretch>
            <a:fillRect/>
          </a:stretch>
        </p:blipFill>
        <p:spPr>
          <a:xfrm>
            <a:off x="7461884" y="137159"/>
            <a:ext cx="1434465" cy="14344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marL="0" indent="0">
              <a:buNone/>
            </a:pPr>
            <a:r>
              <a:rPr lang="en-US" sz="2800" b="1" dirty="0">
                <a:solidFill>
                  <a:srgbClr val="0B3C5D"/>
                </a:solidFill>
                <a:latin typeface="Cambria" pitchFamily="34" charset="0"/>
                <a:ea typeface="Cambria" pitchFamily="34" charset="-122"/>
                <a:cs typeface="Cambria" pitchFamily="34" charset="-120"/>
              </a:rPr>
              <a:t>Business recommendations</a:t>
            </a:r>
            <a:endParaRPr lang="en-US" sz="2800" dirty="0"/>
          </a:p>
        </p:txBody>
      </p:sp>
      <p:sp>
        <p:nvSpPr>
          <p:cNvPr id="3" name="Text 1"/>
          <p:cNvSpPr txBox="1"/>
          <p:nvPr/>
        </p:nvSpPr>
        <p:spPr>
          <a:xfrm>
            <a:off x="548640" y="896112"/>
            <a:ext cx="8046720" cy="36576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Twelve actions in six priority areas</a:t>
            </a:r>
            <a:endParaRPr lang="en-US" sz="1400" dirty="0"/>
          </a:p>
        </p:txBody>
      </p:sp>
      <p:sp>
        <p:nvSpPr>
          <p:cNvPr id="4" name="Shape 2"/>
          <p:cNvSpPr/>
          <p:nvPr/>
        </p:nvSpPr>
        <p:spPr>
          <a:xfrm>
            <a:off x="548640" y="1371600"/>
            <a:ext cx="2578608" cy="1645920"/>
          </a:xfrm>
          <a:prstGeom prst="roundRect">
            <a:avLst>
              <a:gd name="adj" fmla="val 5556"/>
            </a:avLst>
          </a:prstGeom>
          <a:solidFill>
            <a:srgbClr val="EEF3F8"/>
          </a:solidFill>
          <a:ln w="12700">
            <a:solidFill>
              <a:srgbClr val="EEF3F8"/>
            </a:solidFill>
            <a:prstDash val="solid"/>
          </a:ln>
        </p:spPr>
      </p:sp>
      <p:sp>
        <p:nvSpPr>
          <p:cNvPr id="5" name="Shape 3"/>
          <p:cNvSpPr/>
          <p:nvPr/>
        </p:nvSpPr>
        <p:spPr>
          <a:xfrm>
            <a:off x="548640" y="1508760"/>
            <a:ext cx="64008" cy="365760"/>
          </a:xfrm>
          <a:prstGeom prst="rect">
            <a:avLst/>
          </a:prstGeom>
          <a:solidFill>
            <a:srgbClr val="F28C28"/>
          </a:solidFill>
          <a:ln w="12700">
            <a:solidFill>
              <a:srgbClr val="F28C28"/>
            </a:solidFill>
            <a:prstDash val="solid"/>
          </a:ln>
        </p:spPr>
      </p:sp>
      <p:sp>
        <p:nvSpPr>
          <p:cNvPr id="6" name="Text 4"/>
          <p:cNvSpPr txBox="1"/>
          <p:nvPr/>
        </p:nvSpPr>
        <p:spPr>
          <a:xfrm>
            <a:off x="731520" y="1481328"/>
            <a:ext cx="2286000" cy="411480"/>
          </a:xfrm>
          <a:prstGeom prst="rect">
            <a:avLst/>
          </a:prstGeom>
          <a:noFill/>
          <a:ln/>
        </p:spPr>
        <p:txBody>
          <a:bodyPr wrap="square" lIns="0" tIns="0" rIns="0" bIns="0" rtlCol="0" anchor="ctr"/>
          <a:lstStyle/>
          <a:p>
            <a:pPr marL="0" indent="0">
              <a:buNone/>
            </a:pPr>
            <a:r>
              <a:rPr lang="en-US" sz="1400" b="1" dirty="0">
                <a:solidFill>
                  <a:srgbClr val="0B3C5D"/>
                </a:solidFill>
                <a:latin typeface="Cambria" pitchFamily="34" charset="0"/>
                <a:ea typeface="Cambria" pitchFamily="34" charset="-122"/>
                <a:cs typeface="Cambria" pitchFamily="34" charset="-120"/>
              </a:rPr>
              <a:t>Delivery</a:t>
            </a:r>
            <a:endParaRPr lang="en-US" sz="1400" dirty="0"/>
          </a:p>
        </p:txBody>
      </p:sp>
      <p:sp>
        <p:nvSpPr>
          <p:cNvPr id="7" name="Text 5"/>
          <p:cNvSpPr txBox="1"/>
          <p:nvPr/>
        </p:nvSpPr>
        <p:spPr>
          <a:xfrm>
            <a:off x="731520" y="1965960"/>
            <a:ext cx="2286000" cy="1005840"/>
          </a:xfrm>
          <a:prstGeom prst="rect">
            <a:avLst/>
          </a:prstGeom>
          <a:noFill/>
          <a:ln/>
        </p:spPr>
        <p:txBody>
          <a:bodyPr wrap="square" lIns="0" tIns="0" rIns="0" bIns="0" rtlCol="0" anchor="t"/>
          <a:lstStyle/>
          <a:p>
            <a:pPr marL="0" indent="0">
              <a:buNone/>
            </a:pPr>
            <a:r>
              <a:rPr lang="en-US" sz="1150" dirty="0">
                <a:solidFill>
                  <a:srgbClr val="1F2937"/>
                </a:solidFill>
                <a:latin typeface="Calibri" pitchFamily="34" charset="0"/>
                <a:ea typeface="Calibri" pitchFamily="34" charset="-122"/>
                <a:cs typeface="Calibri" pitchFamily="34" charset="-120"/>
              </a:rPr>
              <a:t>Interim 50% on-time target; escalate shipments over 2 days late; copy W01, W10 and W07 practices</a:t>
            </a:r>
            <a:endParaRPr lang="en-US" sz="1150" dirty="0"/>
          </a:p>
        </p:txBody>
      </p:sp>
      <p:sp>
        <p:nvSpPr>
          <p:cNvPr id="8" name="Shape 6"/>
          <p:cNvSpPr/>
          <p:nvPr/>
        </p:nvSpPr>
        <p:spPr>
          <a:xfrm>
            <a:off x="3273552" y="1371600"/>
            <a:ext cx="2578608" cy="1645920"/>
          </a:xfrm>
          <a:prstGeom prst="roundRect">
            <a:avLst>
              <a:gd name="adj" fmla="val 5556"/>
            </a:avLst>
          </a:prstGeom>
          <a:solidFill>
            <a:srgbClr val="EEF3F8"/>
          </a:solidFill>
          <a:ln w="12700">
            <a:solidFill>
              <a:srgbClr val="EEF3F8"/>
            </a:solidFill>
            <a:prstDash val="solid"/>
          </a:ln>
        </p:spPr>
      </p:sp>
      <p:sp>
        <p:nvSpPr>
          <p:cNvPr id="9" name="Shape 7"/>
          <p:cNvSpPr/>
          <p:nvPr/>
        </p:nvSpPr>
        <p:spPr>
          <a:xfrm>
            <a:off x="3273552" y="1508760"/>
            <a:ext cx="64008" cy="365760"/>
          </a:xfrm>
          <a:prstGeom prst="rect">
            <a:avLst/>
          </a:prstGeom>
          <a:solidFill>
            <a:srgbClr val="F28C28"/>
          </a:solidFill>
          <a:ln w="12700">
            <a:solidFill>
              <a:srgbClr val="F28C28"/>
            </a:solidFill>
            <a:prstDash val="solid"/>
          </a:ln>
        </p:spPr>
      </p:sp>
      <p:sp>
        <p:nvSpPr>
          <p:cNvPr id="10" name="Text 8"/>
          <p:cNvSpPr txBox="1"/>
          <p:nvPr/>
        </p:nvSpPr>
        <p:spPr>
          <a:xfrm>
            <a:off x="3456432" y="1481328"/>
            <a:ext cx="2286000" cy="411480"/>
          </a:xfrm>
          <a:prstGeom prst="rect">
            <a:avLst/>
          </a:prstGeom>
          <a:noFill/>
          <a:ln/>
        </p:spPr>
        <p:txBody>
          <a:bodyPr wrap="square" lIns="0" tIns="0" rIns="0" bIns="0" rtlCol="0" anchor="ctr"/>
          <a:lstStyle/>
          <a:p>
            <a:pPr marL="0" indent="0">
              <a:buNone/>
            </a:pPr>
            <a:r>
              <a:rPr lang="en-US" sz="1400" b="1" dirty="0">
                <a:solidFill>
                  <a:srgbClr val="0B3C5D"/>
                </a:solidFill>
                <a:latin typeface="Cambria" pitchFamily="34" charset="0"/>
                <a:ea typeface="Cambria" pitchFamily="34" charset="-122"/>
                <a:cs typeface="Cambria" pitchFamily="34" charset="-120"/>
              </a:rPr>
              <a:t>Inventory</a:t>
            </a:r>
            <a:endParaRPr lang="en-US" sz="1400" dirty="0"/>
          </a:p>
        </p:txBody>
      </p:sp>
      <p:sp>
        <p:nvSpPr>
          <p:cNvPr id="11" name="Text 9"/>
          <p:cNvSpPr txBox="1"/>
          <p:nvPr/>
        </p:nvSpPr>
        <p:spPr>
          <a:xfrm>
            <a:off x="3456432" y="1965960"/>
            <a:ext cx="2286000" cy="1005840"/>
          </a:xfrm>
          <a:prstGeom prst="rect">
            <a:avLst/>
          </a:prstGeom>
          <a:noFill/>
          <a:ln/>
        </p:spPr>
        <p:txBody>
          <a:bodyPr wrap="square" lIns="0" tIns="0" rIns="0" bIns="0" rtlCol="0" anchor="t"/>
          <a:lstStyle/>
          <a:p>
            <a:pPr marL="0" indent="0">
              <a:buNone/>
            </a:pPr>
            <a:r>
              <a:rPr lang="en-US" sz="1150" dirty="0">
                <a:solidFill>
                  <a:srgbClr val="1F2937"/>
                </a:solidFill>
                <a:latin typeface="Calibri" pitchFamily="34" charset="0"/>
                <a:ea typeface="Calibri" pitchFamily="34" charset="-122"/>
                <a:cs typeface="Calibri" pitchFamily="34" charset="-120"/>
              </a:rPr>
              <a:t>Maximum stock and reorder points; move stock to the 160 short products; run a stock count</a:t>
            </a:r>
            <a:endParaRPr lang="en-US" sz="1150" dirty="0"/>
          </a:p>
        </p:txBody>
      </p:sp>
      <p:sp>
        <p:nvSpPr>
          <p:cNvPr id="12" name="Shape 10"/>
          <p:cNvSpPr/>
          <p:nvPr/>
        </p:nvSpPr>
        <p:spPr>
          <a:xfrm>
            <a:off x="5998464" y="1371600"/>
            <a:ext cx="2578608" cy="1645920"/>
          </a:xfrm>
          <a:prstGeom prst="roundRect">
            <a:avLst>
              <a:gd name="adj" fmla="val 5556"/>
            </a:avLst>
          </a:prstGeom>
          <a:solidFill>
            <a:srgbClr val="EEF3F8"/>
          </a:solidFill>
          <a:ln w="12700">
            <a:solidFill>
              <a:srgbClr val="EEF3F8"/>
            </a:solidFill>
            <a:prstDash val="solid"/>
          </a:ln>
        </p:spPr>
      </p:sp>
      <p:sp>
        <p:nvSpPr>
          <p:cNvPr id="13" name="Shape 11"/>
          <p:cNvSpPr/>
          <p:nvPr/>
        </p:nvSpPr>
        <p:spPr>
          <a:xfrm>
            <a:off x="5998464" y="1508760"/>
            <a:ext cx="64008" cy="365760"/>
          </a:xfrm>
          <a:prstGeom prst="rect">
            <a:avLst/>
          </a:prstGeom>
          <a:solidFill>
            <a:srgbClr val="F28C28"/>
          </a:solidFill>
          <a:ln w="12700">
            <a:solidFill>
              <a:srgbClr val="F28C28"/>
            </a:solidFill>
            <a:prstDash val="solid"/>
          </a:ln>
        </p:spPr>
      </p:sp>
      <p:sp>
        <p:nvSpPr>
          <p:cNvPr id="14" name="Text 12"/>
          <p:cNvSpPr txBox="1"/>
          <p:nvPr/>
        </p:nvSpPr>
        <p:spPr>
          <a:xfrm>
            <a:off x="6181344" y="1481328"/>
            <a:ext cx="2286000" cy="411480"/>
          </a:xfrm>
          <a:prstGeom prst="rect">
            <a:avLst/>
          </a:prstGeom>
          <a:noFill/>
          <a:ln/>
        </p:spPr>
        <p:txBody>
          <a:bodyPr wrap="square" lIns="0" tIns="0" rIns="0" bIns="0" rtlCol="0" anchor="ctr"/>
          <a:lstStyle/>
          <a:p>
            <a:pPr marL="0" indent="0">
              <a:buNone/>
            </a:pPr>
            <a:r>
              <a:rPr lang="en-US" sz="1400" b="1" dirty="0">
                <a:solidFill>
                  <a:srgbClr val="0B3C5D"/>
                </a:solidFill>
                <a:latin typeface="Cambria" pitchFamily="34" charset="0"/>
                <a:ea typeface="Cambria" pitchFamily="34" charset="-122"/>
                <a:cs typeface="Cambria" pitchFamily="34" charset="-120"/>
              </a:rPr>
              <a:t>Order cost</a:t>
            </a:r>
            <a:endParaRPr lang="en-US" sz="1400" dirty="0"/>
          </a:p>
        </p:txBody>
      </p:sp>
      <p:sp>
        <p:nvSpPr>
          <p:cNvPr id="15" name="Text 13"/>
          <p:cNvSpPr txBox="1"/>
          <p:nvPr/>
        </p:nvSpPr>
        <p:spPr>
          <a:xfrm>
            <a:off x="6181344" y="1965960"/>
            <a:ext cx="2286000" cy="1005840"/>
          </a:xfrm>
          <a:prstGeom prst="rect">
            <a:avLst/>
          </a:prstGeom>
          <a:noFill/>
          <a:ln/>
        </p:spPr>
        <p:txBody>
          <a:bodyPr wrap="square" lIns="0" tIns="0" rIns="0" bIns="0" rtlCol="0" anchor="t"/>
          <a:lstStyle/>
          <a:p>
            <a:pPr marL="0" indent="0">
              <a:buNone/>
            </a:pPr>
            <a:r>
              <a:rPr lang="en-US" sz="1150" dirty="0">
                <a:solidFill>
                  <a:srgbClr val="1F2937"/>
                </a:solidFill>
                <a:latin typeface="Calibri" pitchFamily="34" charset="0"/>
                <a:ea typeface="Calibri" pitchFamily="34" charset="-122"/>
                <a:cs typeface="Calibri" pitchFamily="34" charset="-120"/>
              </a:rPr>
              <a:t>Dispatch only confirmed orders; clear 1,716 pending orders; align status with shipments</a:t>
            </a:r>
            <a:endParaRPr lang="en-US" sz="1150" dirty="0"/>
          </a:p>
        </p:txBody>
      </p:sp>
      <p:sp>
        <p:nvSpPr>
          <p:cNvPr id="16" name="Shape 14"/>
          <p:cNvSpPr/>
          <p:nvPr/>
        </p:nvSpPr>
        <p:spPr>
          <a:xfrm>
            <a:off x="548640" y="3154680"/>
            <a:ext cx="2578608" cy="1645920"/>
          </a:xfrm>
          <a:prstGeom prst="roundRect">
            <a:avLst>
              <a:gd name="adj" fmla="val 5556"/>
            </a:avLst>
          </a:prstGeom>
          <a:solidFill>
            <a:srgbClr val="EEF3F8"/>
          </a:solidFill>
          <a:ln w="12700">
            <a:solidFill>
              <a:srgbClr val="EEF3F8"/>
            </a:solidFill>
            <a:prstDash val="solid"/>
          </a:ln>
        </p:spPr>
      </p:sp>
      <p:sp>
        <p:nvSpPr>
          <p:cNvPr id="17" name="Shape 15"/>
          <p:cNvSpPr/>
          <p:nvPr/>
        </p:nvSpPr>
        <p:spPr>
          <a:xfrm>
            <a:off x="548640" y="3291840"/>
            <a:ext cx="64008" cy="365760"/>
          </a:xfrm>
          <a:prstGeom prst="rect">
            <a:avLst/>
          </a:prstGeom>
          <a:solidFill>
            <a:srgbClr val="F28C28"/>
          </a:solidFill>
          <a:ln w="12700">
            <a:solidFill>
              <a:srgbClr val="F28C28"/>
            </a:solidFill>
            <a:prstDash val="solid"/>
          </a:ln>
        </p:spPr>
      </p:sp>
      <p:sp>
        <p:nvSpPr>
          <p:cNvPr id="18" name="Text 16"/>
          <p:cNvSpPr txBox="1"/>
          <p:nvPr/>
        </p:nvSpPr>
        <p:spPr>
          <a:xfrm>
            <a:off x="731520" y="3264408"/>
            <a:ext cx="2286000" cy="411480"/>
          </a:xfrm>
          <a:prstGeom prst="rect">
            <a:avLst/>
          </a:prstGeom>
          <a:noFill/>
          <a:ln/>
        </p:spPr>
        <p:txBody>
          <a:bodyPr wrap="square" lIns="0" tIns="0" rIns="0" bIns="0" rtlCol="0" anchor="ctr"/>
          <a:lstStyle/>
          <a:p>
            <a:pPr marL="0" indent="0">
              <a:buNone/>
            </a:pPr>
            <a:r>
              <a:rPr lang="en-US" sz="1400" b="1" dirty="0">
                <a:solidFill>
                  <a:srgbClr val="0B3C5D"/>
                </a:solidFill>
                <a:latin typeface="Cambria" pitchFamily="34" charset="0"/>
                <a:ea typeface="Cambria" pitchFamily="34" charset="-122"/>
                <a:cs typeface="Cambria" pitchFamily="34" charset="-120"/>
              </a:rPr>
              <a:t>Returns</a:t>
            </a:r>
            <a:endParaRPr lang="en-US" sz="1400" dirty="0"/>
          </a:p>
        </p:txBody>
      </p:sp>
      <p:sp>
        <p:nvSpPr>
          <p:cNvPr id="19" name="Text 17"/>
          <p:cNvSpPr txBox="1"/>
          <p:nvPr/>
        </p:nvSpPr>
        <p:spPr>
          <a:xfrm>
            <a:off x="731520" y="3749040"/>
            <a:ext cx="2286000" cy="1005840"/>
          </a:xfrm>
          <a:prstGeom prst="rect">
            <a:avLst/>
          </a:prstGeom>
          <a:noFill/>
          <a:ln/>
        </p:spPr>
        <p:txBody>
          <a:bodyPr wrap="square" lIns="0" tIns="0" rIns="0" bIns="0" rtlCol="0" anchor="t"/>
          <a:lstStyle/>
          <a:p>
            <a:pPr marL="0" indent="0">
              <a:buNone/>
            </a:pPr>
            <a:r>
              <a:rPr lang="en-US" sz="1150" dirty="0">
                <a:solidFill>
                  <a:srgbClr val="1F2937"/>
                </a:solidFill>
                <a:latin typeface="Calibri" pitchFamily="34" charset="0"/>
                <a:ea typeface="Calibri" pitchFamily="34" charset="-122"/>
                <a:cs typeface="Calibri" pitchFamily="34" charset="-120"/>
              </a:rPr>
              <a:t>Pick-and-pack checks and better packaging; verify Late Delivery reason codes</a:t>
            </a:r>
            <a:endParaRPr lang="en-US" sz="1150" dirty="0"/>
          </a:p>
        </p:txBody>
      </p:sp>
      <p:sp>
        <p:nvSpPr>
          <p:cNvPr id="20" name="Shape 18"/>
          <p:cNvSpPr/>
          <p:nvPr/>
        </p:nvSpPr>
        <p:spPr>
          <a:xfrm>
            <a:off x="3273552" y="3154680"/>
            <a:ext cx="2578608" cy="1645920"/>
          </a:xfrm>
          <a:prstGeom prst="roundRect">
            <a:avLst>
              <a:gd name="adj" fmla="val 5556"/>
            </a:avLst>
          </a:prstGeom>
          <a:solidFill>
            <a:srgbClr val="EEF3F8"/>
          </a:solidFill>
          <a:ln w="12700">
            <a:solidFill>
              <a:srgbClr val="EEF3F8"/>
            </a:solidFill>
            <a:prstDash val="solid"/>
          </a:ln>
        </p:spPr>
      </p:sp>
      <p:sp>
        <p:nvSpPr>
          <p:cNvPr id="21" name="Shape 19"/>
          <p:cNvSpPr/>
          <p:nvPr/>
        </p:nvSpPr>
        <p:spPr>
          <a:xfrm>
            <a:off x="3273552" y="3291840"/>
            <a:ext cx="64008" cy="365760"/>
          </a:xfrm>
          <a:prstGeom prst="rect">
            <a:avLst/>
          </a:prstGeom>
          <a:solidFill>
            <a:srgbClr val="F28C28"/>
          </a:solidFill>
          <a:ln w="12700">
            <a:solidFill>
              <a:srgbClr val="F28C28"/>
            </a:solidFill>
            <a:prstDash val="solid"/>
          </a:ln>
        </p:spPr>
      </p:sp>
      <p:sp>
        <p:nvSpPr>
          <p:cNvPr id="22" name="Text 20"/>
          <p:cNvSpPr txBox="1"/>
          <p:nvPr/>
        </p:nvSpPr>
        <p:spPr>
          <a:xfrm>
            <a:off x="3456432" y="3264408"/>
            <a:ext cx="2286000" cy="411480"/>
          </a:xfrm>
          <a:prstGeom prst="rect">
            <a:avLst/>
          </a:prstGeom>
          <a:noFill/>
          <a:ln/>
        </p:spPr>
        <p:txBody>
          <a:bodyPr wrap="square" lIns="0" tIns="0" rIns="0" bIns="0" rtlCol="0" anchor="ctr"/>
          <a:lstStyle/>
          <a:p>
            <a:pPr marL="0" indent="0">
              <a:buNone/>
            </a:pPr>
            <a:r>
              <a:rPr lang="en-US" sz="1400" b="1" dirty="0">
                <a:solidFill>
                  <a:srgbClr val="0B3C5D"/>
                </a:solidFill>
                <a:latin typeface="Cambria" pitchFamily="34" charset="0"/>
                <a:ea typeface="Cambria" pitchFamily="34" charset="-122"/>
                <a:cs typeface="Cambria" pitchFamily="34" charset="-120"/>
              </a:rPr>
              <a:t>Customers and growth</a:t>
            </a:r>
            <a:endParaRPr lang="en-US" sz="1400" dirty="0"/>
          </a:p>
        </p:txBody>
      </p:sp>
      <p:sp>
        <p:nvSpPr>
          <p:cNvPr id="23" name="Text 21"/>
          <p:cNvSpPr txBox="1"/>
          <p:nvPr/>
        </p:nvSpPr>
        <p:spPr>
          <a:xfrm>
            <a:off x="3456432" y="3749040"/>
            <a:ext cx="2286000" cy="1005840"/>
          </a:xfrm>
          <a:prstGeom prst="rect">
            <a:avLst/>
          </a:prstGeom>
          <a:noFill/>
          <a:ln/>
        </p:spPr>
        <p:txBody>
          <a:bodyPr wrap="square" lIns="0" tIns="0" rIns="0" bIns="0" rtlCol="0" anchor="t"/>
          <a:lstStyle/>
          <a:p>
            <a:pPr marL="0" indent="0">
              <a:buNone/>
            </a:pPr>
            <a:r>
              <a:rPr lang="en-US" sz="1150" dirty="0">
                <a:solidFill>
                  <a:srgbClr val="1F2937"/>
                </a:solidFill>
                <a:latin typeface="Calibri" pitchFamily="34" charset="0"/>
                <a:ea typeface="Calibri" pitchFamily="34" charset="-122"/>
                <a:cs typeface="Calibri" pitchFamily="34" charset="-120"/>
              </a:rPr>
              <a:t>Loyalty programme for top 200; expand high-priced Fashion and Food; plan for the August peak</a:t>
            </a:r>
            <a:endParaRPr lang="en-US" sz="1150" dirty="0"/>
          </a:p>
        </p:txBody>
      </p:sp>
      <p:sp>
        <p:nvSpPr>
          <p:cNvPr id="24" name="Shape 22"/>
          <p:cNvSpPr/>
          <p:nvPr/>
        </p:nvSpPr>
        <p:spPr>
          <a:xfrm>
            <a:off x="5998464" y="3154680"/>
            <a:ext cx="2578608" cy="1645920"/>
          </a:xfrm>
          <a:prstGeom prst="roundRect">
            <a:avLst>
              <a:gd name="adj" fmla="val 5556"/>
            </a:avLst>
          </a:prstGeom>
          <a:solidFill>
            <a:srgbClr val="EEF3F8"/>
          </a:solidFill>
          <a:ln w="12700">
            <a:solidFill>
              <a:srgbClr val="EEF3F8"/>
            </a:solidFill>
            <a:prstDash val="solid"/>
          </a:ln>
        </p:spPr>
      </p:sp>
      <p:sp>
        <p:nvSpPr>
          <p:cNvPr id="25" name="Shape 23"/>
          <p:cNvSpPr/>
          <p:nvPr/>
        </p:nvSpPr>
        <p:spPr>
          <a:xfrm>
            <a:off x="5998464" y="3291840"/>
            <a:ext cx="64008" cy="365760"/>
          </a:xfrm>
          <a:prstGeom prst="rect">
            <a:avLst/>
          </a:prstGeom>
          <a:solidFill>
            <a:srgbClr val="F28C28"/>
          </a:solidFill>
          <a:ln w="12700">
            <a:solidFill>
              <a:srgbClr val="F28C28"/>
            </a:solidFill>
            <a:prstDash val="solid"/>
          </a:ln>
        </p:spPr>
      </p:sp>
      <p:sp>
        <p:nvSpPr>
          <p:cNvPr id="26" name="Text 24"/>
          <p:cNvSpPr txBox="1"/>
          <p:nvPr/>
        </p:nvSpPr>
        <p:spPr>
          <a:xfrm>
            <a:off x="6181344" y="3264408"/>
            <a:ext cx="2286000" cy="411480"/>
          </a:xfrm>
          <a:prstGeom prst="rect">
            <a:avLst/>
          </a:prstGeom>
          <a:noFill/>
          <a:ln/>
        </p:spPr>
        <p:txBody>
          <a:bodyPr wrap="square" lIns="0" tIns="0" rIns="0" bIns="0" rtlCol="0" anchor="ctr"/>
          <a:lstStyle/>
          <a:p>
            <a:pPr marL="0" indent="0">
              <a:buNone/>
            </a:pPr>
            <a:r>
              <a:rPr lang="en-US" sz="1400" b="1" dirty="0">
                <a:solidFill>
                  <a:srgbClr val="0B3C5D"/>
                </a:solidFill>
                <a:latin typeface="Cambria" pitchFamily="34" charset="0"/>
                <a:ea typeface="Cambria" pitchFamily="34" charset="-122"/>
                <a:cs typeface="Cambria" pitchFamily="34" charset="-120"/>
              </a:rPr>
              <a:t>Suppliers, logistics, monitoring</a:t>
            </a:r>
            <a:endParaRPr lang="en-US" sz="1400" dirty="0"/>
          </a:p>
        </p:txBody>
      </p:sp>
      <p:sp>
        <p:nvSpPr>
          <p:cNvPr id="27" name="Text 25"/>
          <p:cNvSpPr txBox="1"/>
          <p:nvPr/>
        </p:nvSpPr>
        <p:spPr>
          <a:xfrm>
            <a:off x="6181344" y="3749040"/>
            <a:ext cx="2286000" cy="1005840"/>
          </a:xfrm>
          <a:prstGeom prst="rect">
            <a:avLst/>
          </a:prstGeom>
          <a:noFill/>
          <a:ln/>
        </p:spPr>
        <p:txBody>
          <a:bodyPr wrap="square" lIns="0" tIns="0" rIns="0" bIns="0" rtlCol="0" anchor="t"/>
          <a:lstStyle/>
          <a:p>
            <a:pPr marL="0" indent="0">
              <a:buNone/>
            </a:pPr>
            <a:r>
              <a:rPr lang="en-US" sz="1150" dirty="0">
                <a:solidFill>
                  <a:srgbClr val="1F2937"/>
                </a:solidFill>
                <a:latin typeface="Calibri" pitchFamily="34" charset="0"/>
                <a:ea typeface="Calibri" pitchFamily="34" charset="-122"/>
                <a:cs typeface="Calibri" pitchFamily="34" charset="-120"/>
              </a:rPr>
              <a:t>Add SupplierID and timestamps; pilot nearest-warehouse routing for Ibadan; weekly KPI scorecard</a:t>
            </a:r>
            <a:endParaRPr lang="en-US" sz="1150" dirty="0"/>
          </a:p>
        </p:txBody>
      </p:sp>
      <p:pic>
        <p:nvPicPr>
          <p:cNvPr id="28" name="Picture 27">
            <a:extLst>
              <a:ext uri="{FF2B5EF4-FFF2-40B4-BE49-F238E27FC236}">
                <a16:creationId xmlns:a16="http://schemas.microsoft.com/office/drawing/2014/main" id="{2718207F-1911-9631-FC14-DBCA1CEDD1BC}"/>
              </a:ext>
            </a:extLst>
          </p:cNvPr>
          <p:cNvPicPr>
            <a:picLocks noChangeAspect="1"/>
          </p:cNvPicPr>
          <p:nvPr/>
        </p:nvPicPr>
        <p:blipFill>
          <a:blip r:embed="rId3"/>
          <a:stretch>
            <a:fillRect/>
          </a:stretch>
        </p:blipFill>
        <p:spPr>
          <a:xfrm>
            <a:off x="7239000" y="-85725"/>
            <a:ext cx="1657350" cy="16573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548640"/>
          </a:xfrm>
          <a:prstGeom prst="rect">
            <a:avLst/>
          </a:prstGeom>
          <a:noFill/>
          <a:ln/>
        </p:spPr>
        <p:txBody>
          <a:bodyPr wrap="square" lIns="0" tIns="0" rIns="0" bIns="0" rtlCol="0" anchor="t"/>
          <a:lstStyle/>
          <a:p>
            <a:pPr marL="0" indent="0">
              <a:buNone/>
            </a:pPr>
            <a:r>
              <a:rPr lang="en-US" sz="2800" b="1" dirty="0">
                <a:solidFill>
                  <a:srgbClr val="0B3C5D"/>
                </a:solidFill>
                <a:latin typeface="Cambria" pitchFamily="34" charset="0"/>
                <a:ea typeface="Cambria" pitchFamily="34" charset="-122"/>
                <a:cs typeface="Cambria" pitchFamily="34" charset="-120"/>
              </a:rPr>
              <a:t>Expected business impact</a:t>
            </a:r>
            <a:endParaRPr lang="en-US" sz="2800" dirty="0"/>
          </a:p>
        </p:txBody>
      </p:sp>
      <p:sp>
        <p:nvSpPr>
          <p:cNvPr id="3" name="Text 1"/>
          <p:cNvSpPr txBox="1"/>
          <p:nvPr/>
        </p:nvSpPr>
        <p:spPr>
          <a:xfrm>
            <a:off x="548640" y="896112"/>
            <a:ext cx="8046720" cy="365760"/>
          </a:xfrm>
          <a:prstGeom prst="rect">
            <a:avLst/>
          </a:prstGeom>
          <a:noFill/>
          <a:ln/>
        </p:spPr>
        <p:txBody>
          <a:bodyPr wrap="square" lIns="0" tIns="0" rIns="0" bIns="0" rtlCol="0" anchor="t"/>
          <a:lstStyle/>
          <a:p>
            <a:pPr marL="0" indent="0">
              <a:buNone/>
            </a:pPr>
            <a:r>
              <a:rPr lang="en-US" sz="1400" dirty="0">
                <a:solidFill>
                  <a:srgbClr val="5B6475"/>
                </a:solidFill>
                <a:latin typeface="Calibri" pitchFamily="34" charset="0"/>
                <a:ea typeface="Calibri" pitchFamily="34" charset="-122"/>
                <a:cs typeface="Calibri" pitchFamily="34" charset="-120"/>
              </a:rPr>
              <a:t>Small improvements to existing operations deliver large gains</a:t>
            </a:r>
            <a:endParaRPr lang="en-US" sz="1400" dirty="0"/>
          </a:p>
        </p:txBody>
      </p:sp>
      <p:sp>
        <p:nvSpPr>
          <p:cNvPr id="4" name="Shape 2"/>
          <p:cNvSpPr/>
          <p:nvPr/>
        </p:nvSpPr>
        <p:spPr>
          <a:xfrm>
            <a:off x="548640" y="1417320"/>
            <a:ext cx="3840480" cy="960120"/>
          </a:xfrm>
          <a:prstGeom prst="roundRect">
            <a:avLst>
              <a:gd name="adj" fmla="val 9524"/>
            </a:avLst>
          </a:prstGeom>
          <a:solidFill>
            <a:srgbClr val="0B3C5D"/>
          </a:solidFill>
          <a:ln w="12700">
            <a:solidFill>
              <a:srgbClr val="0B3C5D"/>
            </a:solidFill>
            <a:prstDash val="solid"/>
          </a:ln>
        </p:spPr>
      </p:sp>
      <p:sp>
        <p:nvSpPr>
          <p:cNvPr id="5" name="Text 3"/>
          <p:cNvSpPr txBox="1"/>
          <p:nvPr/>
        </p:nvSpPr>
        <p:spPr>
          <a:xfrm>
            <a:off x="640080" y="1508760"/>
            <a:ext cx="1280160" cy="777240"/>
          </a:xfrm>
          <a:prstGeom prst="rect">
            <a:avLst/>
          </a:prstGeom>
          <a:noFill/>
          <a:ln/>
        </p:spPr>
        <p:txBody>
          <a:bodyPr wrap="square" lIns="0" tIns="0" rIns="0" bIns="0" rtlCol="0" anchor="ctr"/>
          <a:lstStyle/>
          <a:p>
            <a:pPr marL="0" indent="0">
              <a:buNone/>
            </a:pPr>
            <a:r>
              <a:rPr lang="en-US" sz="2800" b="1" dirty="0">
                <a:solidFill>
                  <a:srgbClr val="F28C28"/>
                </a:solidFill>
                <a:latin typeface="Cambria" pitchFamily="34" charset="0"/>
                <a:ea typeface="Cambria" pitchFamily="34" charset="-122"/>
                <a:cs typeface="Cambria" pitchFamily="34" charset="-120"/>
              </a:rPr>
              <a:t>+500</a:t>
            </a:r>
            <a:endParaRPr lang="en-US" sz="2800" dirty="0"/>
          </a:p>
        </p:txBody>
      </p:sp>
      <p:sp>
        <p:nvSpPr>
          <p:cNvPr id="6" name="Text 4"/>
          <p:cNvSpPr txBox="1"/>
          <p:nvPr/>
        </p:nvSpPr>
        <p:spPr>
          <a:xfrm>
            <a:off x="1920240" y="1508760"/>
            <a:ext cx="237744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on-time shipments for every 10-point rise in on-time rate</a:t>
            </a:r>
            <a:endParaRPr lang="en-US" sz="1200" dirty="0"/>
          </a:p>
        </p:txBody>
      </p:sp>
      <p:sp>
        <p:nvSpPr>
          <p:cNvPr id="7" name="Shape 5"/>
          <p:cNvSpPr/>
          <p:nvPr/>
        </p:nvSpPr>
        <p:spPr>
          <a:xfrm>
            <a:off x="548640" y="2514600"/>
            <a:ext cx="3840480" cy="960120"/>
          </a:xfrm>
          <a:prstGeom prst="roundRect">
            <a:avLst>
              <a:gd name="adj" fmla="val 9524"/>
            </a:avLst>
          </a:prstGeom>
          <a:solidFill>
            <a:srgbClr val="0B3C5D"/>
          </a:solidFill>
          <a:ln w="12700">
            <a:solidFill>
              <a:srgbClr val="0B3C5D"/>
            </a:solidFill>
            <a:prstDash val="solid"/>
          </a:ln>
        </p:spPr>
      </p:sp>
      <p:sp>
        <p:nvSpPr>
          <p:cNvPr id="8" name="Text 6"/>
          <p:cNvSpPr txBox="1"/>
          <p:nvPr/>
        </p:nvSpPr>
        <p:spPr>
          <a:xfrm>
            <a:off x="640080" y="2606040"/>
            <a:ext cx="1280160" cy="777240"/>
          </a:xfrm>
          <a:prstGeom prst="rect">
            <a:avLst/>
          </a:prstGeom>
          <a:noFill/>
          <a:ln/>
        </p:spPr>
        <p:txBody>
          <a:bodyPr wrap="square" lIns="0" tIns="0" rIns="0" bIns="0" rtlCol="0" anchor="ctr"/>
          <a:lstStyle/>
          <a:p>
            <a:pPr marL="0" indent="0">
              <a:buNone/>
            </a:pPr>
            <a:r>
              <a:rPr lang="en-US" sz="2800" b="1" dirty="0">
                <a:solidFill>
                  <a:srgbClr val="F28C28"/>
                </a:solidFill>
                <a:latin typeface="Cambria" pitchFamily="34" charset="0"/>
                <a:ea typeface="Cambria" pitchFamily="34" charset="-122"/>
                <a:cs typeface="Cambria" pitchFamily="34" charset="-120"/>
              </a:rPr>
              <a:t>+500</a:t>
            </a:r>
            <a:endParaRPr lang="en-US" sz="2800" dirty="0"/>
          </a:p>
        </p:txBody>
      </p:sp>
      <p:sp>
        <p:nvSpPr>
          <p:cNvPr id="9" name="Text 7"/>
          <p:cNvSpPr txBox="1"/>
          <p:nvPr/>
        </p:nvSpPr>
        <p:spPr>
          <a:xfrm>
            <a:off x="1920240" y="2606040"/>
            <a:ext cx="237744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delivered orders (about ₦2.2M) for every 10-point cut in cancellations</a:t>
            </a:r>
            <a:endParaRPr lang="en-US" sz="1200" dirty="0"/>
          </a:p>
        </p:txBody>
      </p:sp>
      <p:sp>
        <p:nvSpPr>
          <p:cNvPr id="10" name="Shape 8"/>
          <p:cNvSpPr/>
          <p:nvPr/>
        </p:nvSpPr>
        <p:spPr>
          <a:xfrm>
            <a:off x="548640" y="3611880"/>
            <a:ext cx="3840480" cy="960120"/>
          </a:xfrm>
          <a:prstGeom prst="roundRect">
            <a:avLst>
              <a:gd name="adj" fmla="val 9524"/>
            </a:avLst>
          </a:prstGeom>
          <a:solidFill>
            <a:srgbClr val="0B3C5D"/>
          </a:solidFill>
          <a:ln w="12700">
            <a:solidFill>
              <a:srgbClr val="0B3C5D"/>
            </a:solidFill>
            <a:prstDash val="solid"/>
          </a:ln>
        </p:spPr>
      </p:sp>
      <p:sp>
        <p:nvSpPr>
          <p:cNvPr id="11" name="Text 9"/>
          <p:cNvSpPr txBox="1"/>
          <p:nvPr/>
        </p:nvSpPr>
        <p:spPr>
          <a:xfrm>
            <a:off x="640080" y="3703320"/>
            <a:ext cx="1280160" cy="777240"/>
          </a:xfrm>
          <a:prstGeom prst="rect">
            <a:avLst/>
          </a:prstGeom>
          <a:noFill/>
          <a:ln/>
        </p:spPr>
        <p:txBody>
          <a:bodyPr wrap="square" lIns="0" tIns="0" rIns="0" bIns="0" rtlCol="0" anchor="ctr"/>
          <a:lstStyle/>
          <a:p>
            <a:pPr marL="0" indent="0">
              <a:buNone/>
            </a:pPr>
            <a:r>
              <a:rPr lang="en-US" sz="2800" b="1" dirty="0">
                <a:solidFill>
                  <a:srgbClr val="F28C28"/>
                </a:solidFill>
                <a:latin typeface="Cambria" pitchFamily="34" charset="0"/>
                <a:ea typeface="Cambria" pitchFamily="34" charset="-122"/>
                <a:cs typeface="Cambria" pitchFamily="34" charset="-120"/>
              </a:rPr>
              <a:t>315</a:t>
            </a:r>
            <a:endParaRPr lang="en-US" sz="2800" dirty="0"/>
          </a:p>
        </p:txBody>
      </p:sp>
      <p:sp>
        <p:nvSpPr>
          <p:cNvPr id="12" name="Text 10"/>
          <p:cNvSpPr txBox="1"/>
          <p:nvPr/>
        </p:nvSpPr>
        <p:spPr>
          <a:xfrm>
            <a:off x="1920240" y="3703320"/>
            <a:ext cx="237744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Wrong Item and Damaged returns (63%) are directly controllable</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663440" y="1417320"/>
          <a:ext cx="3977640" cy="2346960"/>
        </p:xfrm>
        <a:graphic>
          <a:graphicData uri="http://schemas.openxmlformats.org/drawingml/2006/table">
            <a:tbl>
              <a:tblPr/>
              <a:tblGrid>
                <a:gridCol w="16002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KPI</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0B3C5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Today</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0B3C5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Proposed target</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On-time delivery</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36.3%</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50% in 90 days, then 80%</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Cancellation rate</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32.5%</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20% or less</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Return rate</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7% or less</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Inventory turnover</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0.027</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Rising each quarter</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Max shipments per employee</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37.8</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tc>
                  <a:txBody>
                    <a:bodyPr/>
                    <a:lstStyle/>
                    <a:p>
                      <a:pPr marL="0" indent="0">
                        <a:buNone/>
                      </a:pPr>
                      <a:r>
                        <a:rPr lang="en-US" sz="1100" dirty="0">
                          <a:solidFill>
                            <a:srgbClr val="1F2937"/>
                          </a:solidFill>
                          <a:latin typeface="Calibri" pitchFamily="34" charset="0"/>
                          <a:ea typeface="Calibri" pitchFamily="34" charset="-122"/>
                          <a:cs typeface="Calibri" pitchFamily="34" charset="-120"/>
                        </a:rPr>
                        <a:t>30 or less</a:t>
                      </a:r>
                      <a:endParaRPr lang="en-US" sz="1100" dirty="0">
                        <a:latin typeface="Calibri" charset="0"/>
                        <a:ea typeface="Calibri" charset="0"/>
                        <a:cs typeface="Calibri" charset="0"/>
                      </a:endParaRPr>
                    </a:p>
                  </a:txBody>
                  <a:tcPr anchor="ctr">
                    <a:lnL w="6350" cap="flat" cmpd="sng" algn="ctr">
                      <a:solidFill>
                        <a:srgbClr val="D5DDE6"/>
                      </a:solidFill>
                      <a:prstDash val="solid"/>
                      <a:round/>
                      <a:headEnd type="none" w="med" len="med"/>
                      <a:tailEnd type="none" w="med" len="med"/>
                    </a:lnL>
                    <a:lnR w="6350" cap="flat" cmpd="sng" algn="ctr">
                      <a:solidFill>
                        <a:srgbClr val="D5DDE6"/>
                      </a:solidFill>
                      <a:prstDash val="solid"/>
                      <a:round/>
                      <a:headEnd type="none" w="med" len="med"/>
                      <a:tailEnd type="none" w="med" len="med"/>
                    </a:lnR>
                    <a:lnT w="6350" cap="flat" cmpd="sng" algn="ctr">
                      <a:solidFill>
                        <a:srgbClr val="D5DDE6"/>
                      </a:solidFill>
                      <a:prstDash val="solid"/>
                      <a:round/>
                      <a:headEnd type="none" w="med" len="med"/>
                      <a:tailEnd type="none" w="med" len="med"/>
                    </a:lnT>
                    <a:lnB w="6350" cap="flat" cmpd="sng" algn="ctr">
                      <a:solidFill>
                        <a:srgbClr val="D5DDE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Text 11"/>
          <p:cNvSpPr txBox="1"/>
          <p:nvPr/>
        </p:nvSpPr>
        <p:spPr>
          <a:xfrm>
            <a:off x="4663440" y="3931920"/>
            <a:ext cx="3977640" cy="548640"/>
          </a:xfrm>
          <a:prstGeom prst="rect">
            <a:avLst/>
          </a:prstGeom>
          <a:noFill/>
          <a:ln/>
        </p:spPr>
        <p:txBody>
          <a:bodyPr wrap="square" lIns="0" tIns="0" rIns="0" bIns="0" rtlCol="0" anchor="t"/>
          <a:lstStyle/>
          <a:p>
            <a:pPr marL="0" indent="0">
              <a:buNone/>
            </a:pPr>
            <a:r>
              <a:rPr lang="en-US" sz="1050" i="1" dirty="0">
                <a:solidFill>
                  <a:srgbClr val="5B6475"/>
                </a:solidFill>
                <a:latin typeface="Calibri" pitchFamily="34" charset="0"/>
                <a:ea typeface="Calibri" pitchFamily="34" charset="-122"/>
                <a:cs typeface="Calibri" pitchFamily="34" charset="-120"/>
              </a:rPr>
              <a:t>Impact figures are illustrative revenue arithmetic, not profit forecasts. Targets are proposals.</a:t>
            </a:r>
            <a:endParaRPr lang="en-US" sz="1050" dirty="0"/>
          </a:p>
        </p:txBody>
      </p:sp>
      <p:pic>
        <p:nvPicPr>
          <p:cNvPr id="15" name="Picture 14">
            <a:extLst>
              <a:ext uri="{FF2B5EF4-FFF2-40B4-BE49-F238E27FC236}">
                <a16:creationId xmlns:a16="http://schemas.microsoft.com/office/drawing/2014/main" id="{85D876CE-5332-7FDB-BD37-3C23F1B38FC7}"/>
              </a:ext>
            </a:extLst>
          </p:cNvPr>
          <p:cNvPicPr>
            <a:picLocks noChangeAspect="1"/>
          </p:cNvPicPr>
          <p:nvPr/>
        </p:nvPicPr>
        <p:blipFill>
          <a:blip r:embed="rId3"/>
          <a:stretch>
            <a:fillRect/>
          </a:stretch>
        </p:blipFill>
        <p:spPr>
          <a:xfrm>
            <a:off x="7239000" y="-85725"/>
            <a:ext cx="1657350" cy="16573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3C5D"/>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548640" y="1188720"/>
            <a:ext cx="8046720" cy="914400"/>
          </a:xfrm>
          <a:prstGeom prst="roundRect">
            <a:avLst>
              <a:gd name="adj" fmla="val 10000"/>
            </a:avLst>
          </a:prstGeom>
          <a:solidFill>
            <a:srgbClr val="14506F"/>
          </a:solidFill>
          <a:ln w="12700">
            <a:solidFill>
              <a:srgbClr val="14506F"/>
            </a:solidFill>
            <a:prstDash val="solid"/>
          </a:ln>
        </p:spPr>
      </p:sp>
      <p:sp>
        <p:nvSpPr>
          <p:cNvPr id="4" name="Text 2"/>
          <p:cNvSpPr txBox="1"/>
          <p:nvPr/>
        </p:nvSpPr>
        <p:spPr>
          <a:xfrm>
            <a:off x="685800" y="1280160"/>
            <a:ext cx="548640" cy="731520"/>
          </a:xfrm>
          <a:prstGeom prst="rect">
            <a:avLst/>
          </a:prstGeom>
          <a:noFill/>
          <a:ln/>
        </p:spPr>
        <p:txBody>
          <a:bodyPr wrap="square" lIns="0" tIns="0" rIns="0" bIns="0" rtlCol="0" anchor="ctr"/>
          <a:lstStyle/>
          <a:p>
            <a:pPr marL="0" indent="0">
              <a:buNone/>
            </a:pPr>
            <a:r>
              <a:rPr lang="en-US" sz="3000" b="1" dirty="0">
                <a:solidFill>
                  <a:srgbClr val="F28C28"/>
                </a:solidFill>
                <a:latin typeface="Cambria" pitchFamily="34" charset="0"/>
                <a:ea typeface="Cambria" pitchFamily="34" charset="-122"/>
                <a:cs typeface="Cambria" pitchFamily="34" charset="-120"/>
              </a:rPr>
              <a:t>1</a:t>
            </a:r>
            <a:endParaRPr lang="en-US" sz="3000" dirty="0"/>
          </a:p>
        </p:txBody>
      </p:sp>
      <p:sp>
        <p:nvSpPr>
          <p:cNvPr id="5" name="Text 3"/>
          <p:cNvSpPr txBox="1"/>
          <p:nvPr/>
        </p:nvSpPr>
        <p:spPr>
          <a:xfrm>
            <a:off x="1325880" y="1280160"/>
            <a:ext cx="713232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Fix delivery and order completion first</a:t>
            </a:r>
            <a:endParaRPr lang="en-US" sz="1600" dirty="0"/>
          </a:p>
        </p:txBody>
      </p:sp>
      <p:sp>
        <p:nvSpPr>
          <p:cNvPr id="6" name="Text 4"/>
          <p:cNvSpPr txBox="1"/>
          <p:nvPr/>
        </p:nvSpPr>
        <p:spPr>
          <a:xfrm>
            <a:off x="1325880" y="1627632"/>
            <a:ext cx="7132320" cy="411480"/>
          </a:xfrm>
          <a:prstGeom prst="rect">
            <a:avLst/>
          </a:prstGeom>
          <a:noFill/>
          <a:ln/>
        </p:spPr>
        <p:txBody>
          <a:bodyPr wrap="square" lIns="0" tIns="0" rIns="0" bIns="0" rtlCol="0" anchor="t"/>
          <a:lstStyle/>
          <a:p>
            <a:pPr marL="0" indent="0">
              <a:buNone/>
            </a:pPr>
            <a:r>
              <a:rPr lang="en-US" sz="1250" dirty="0">
                <a:solidFill>
                  <a:srgbClr val="CFE0EE"/>
                </a:solidFill>
                <a:latin typeface="Calibri" pitchFamily="34" charset="0"/>
                <a:ea typeface="Calibri" pitchFamily="34" charset="-122"/>
                <a:cs typeface="Calibri" pitchFamily="34" charset="-120"/>
              </a:rPr>
              <a:t>They hold most of the lost value: 63.7% of shipments delayed and 66.8% of orders not delivered.</a:t>
            </a:r>
            <a:endParaRPr lang="en-US" sz="1250" dirty="0"/>
          </a:p>
        </p:txBody>
      </p:sp>
      <p:sp>
        <p:nvSpPr>
          <p:cNvPr id="7" name="Shape 5"/>
          <p:cNvSpPr/>
          <p:nvPr/>
        </p:nvSpPr>
        <p:spPr>
          <a:xfrm>
            <a:off x="548640" y="2240280"/>
            <a:ext cx="8046720" cy="914400"/>
          </a:xfrm>
          <a:prstGeom prst="roundRect">
            <a:avLst>
              <a:gd name="adj" fmla="val 10000"/>
            </a:avLst>
          </a:prstGeom>
          <a:solidFill>
            <a:srgbClr val="14506F"/>
          </a:solidFill>
          <a:ln w="12700">
            <a:solidFill>
              <a:srgbClr val="14506F"/>
            </a:solidFill>
            <a:prstDash val="solid"/>
          </a:ln>
        </p:spPr>
      </p:sp>
      <p:sp>
        <p:nvSpPr>
          <p:cNvPr id="8" name="Text 6"/>
          <p:cNvSpPr txBox="1"/>
          <p:nvPr/>
        </p:nvSpPr>
        <p:spPr>
          <a:xfrm>
            <a:off x="685800" y="2331720"/>
            <a:ext cx="548640" cy="731520"/>
          </a:xfrm>
          <a:prstGeom prst="rect">
            <a:avLst/>
          </a:prstGeom>
          <a:noFill/>
          <a:ln/>
        </p:spPr>
        <p:txBody>
          <a:bodyPr wrap="square" lIns="0" tIns="0" rIns="0" bIns="0" rtlCol="0" anchor="ctr"/>
          <a:lstStyle/>
          <a:p>
            <a:pPr marL="0" indent="0">
              <a:buNone/>
            </a:pPr>
            <a:r>
              <a:rPr lang="en-US" sz="3000" b="1" dirty="0">
                <a:solidFill>
                  <a:srgbClr val="F28C28"/>
                </a:solidFill>
                <a:latin typeface="Cambria" pitchFamily="34" charset="0"/>
                <a:ea typeface="Cambria" pitchFamily="34" charset="-122"/>
                <a:cs typeface="Cambria" pitchFamily="34" charset="-120"/>
              </a:rPr>
              <a:t>2</a:t>
            </a:r>
            <a:endParaRPr lang="en-US" sz="3000" dirty="0"/>
          </a:p>
        </p:txBody>
      </p:sp>
      <p:sp>
        <p:nvSpPr>
          <p:cNvPr id="9" name="Text 7"/>
          <p:cNvSpPr txBox="1"/>
          <p:nvPr/>
        </p:nvSpPr>
        <p:spPr>
          <a:xfrm>
            <a:off x="1325880" y="2331720"/>
            <a:ext cx="713232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Control stock, returns and staffing</a:t>
            </a:r>
            <a:endParaRPr lang="en-US" sz="1600" dirty="0"/>
          </a:p>
        </p:txBody>
      </p:sp>
      <p:sp>
        <p:nvSpPr>
          <p:cNvPr id="10" name="Text 8"/>
          <p:cNvSpPr txBox="1"/>
          <p:nvPr/>
        </p:nvSpPr>
        <p:spPr>
          <a:xfrm>
            <a:off x="1325880" y="2679192"/>
            <a:ext cx="7132320" cy="411480"/>
          </a:xfrm>
          <a:prstGeom prst="rect">
            <a:avLst/>
          </a:prstGeom>
          <a:noFill/>
          <a:ln/>
        </p:spPr>
        <p:txBody>
          <a:bodyPr wrap="square" lIns="0" tIns="0" rIns="0" bIns="0" rtlCol="0" anchor="t"/>
          <a:lstStyle/>
          <a:p>
            <a:pPr marL="0" indent="0">
              <a:buNone/>
            </a:pPr>
            <a:r>
              <a:rPr lang="en-US" sz="1250" dirty="0">
                <a:solidFill>
                  <a:srgbClr val="CFE0EE"/>
                </a:solidFill>
                <a:latin typeface="Calibri" pitchFamily="34" charset="0"/>
                <a:ea typeface="Calibri" pitchFamily="34" charset="-122"/>
                <a:cs typeface="Calibri" pitchFamily="34" charset="-120"/>
              </a:rPr>
              <a:t>Redistribute stock, cut handling errors and balance workload across warehouses.</a:t>
            </a:r>
            <a:endParaRPr lang="en-US" sz="1250" dirty="0"/>
          </a:p>
        </p:txBody>
      </p:sp>
      <p:sp>
        <p:nvSpPr>
          <p:cNvPr id="11" name="Shape 9"/>
          <p:cNvSpPr/>
          <p:nvPr/>
        </p:nvSpPr>
        <p:spPr>
          <a:xfrm>
            <a:off x="548640" y="3291840"/>
            <a:ext cx="8046720" cy="914400"/>
          </a:xfrm>
          <a:prstGeom prst="roundRect">
            <a:avLst>
              <a:gd name="adj" fmla="val 10000"/>
            </a:avLst>
          </a:prstGeom>
          <a:solidFill>
            <a:srgbClr val="14506F"/>
          </a:solidFill>
          <a:ln w="12700">
            <a:solidFill>
              <a:srgbClr val="14506F"/>
            </a:solidFill>
            <a:prstDash val="solid"/>
          </a:ln>
        </p:spPr>
      </p:sp>
      <p:sp>
        <p:nvSpPr>
          <p:cNvPr id="12" name="Text 10"/>
          <p:cNvSpPr txBox="1"/>
          <p:nvPr/>
        </p:nvSpPr>
        <p:spPr>
          <a:xfrm>
            <a:off x="685800" y="3383280"/>
            <a:ext cx="548640" cy="731520"/>
          </a:xfrm>
          <a:prstGeom prst="rect">
            <a:avLst/>
          </a:prstGeom>
          <a:noFill/>
          <a:ln/>
        </p:spPr>
        <p:txBody>
          <a:bodyPr wrap="square" lIns="0" tIns="0" rIns="0" bIns="0" rtlCol="0" anchor="ctr"/>
          <a:lstStyle/>
          <a:p>
            <a:pPr marL="0" indent="0">
              <a:buNone/>
            </a:pPr>
            <a:r>
              <a:rPr lang="en-US" sz="3000" b="1" dirty="0">
                <a:solidFill>
                  <a:srgbClr val="F28C28"/>
                </a:solidFill>
                <a:latin typeface="Cambria" pitchFamily="34" charset="0"/>
                <a:ea typeface="Cambria" pitchFamily="34" charset="-122"/>
                <a:cs typeface="Cambria" pitchFamily="34" charset="-120"/>
              </a:rPr>
              <a:t>3</a:t>
            </a:r>
            <a:endParaRPr lang="en-US" sz="3000" dirty="0"/>
          </a:p>
        </p:txBody>
      </p:sp>
      <p:sp>
        <p:nvSpPr>
          <p:cNvPr id="13" name="Text 11"/>
          <p:cNvSpPr txBox="1"/>
          <p:nvPr/>
        </p:nvSpPr>
        <p:spPr>
          <a:xfrm>
            <a:off x="1325880" y="3383280"/>
            <a:ext cx="7132320" cy="32004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Close the data gaps</a:t>
            </a:r>
            <a:endParaRPr lang="en-US" sz="1600" dirty="0"/>
          </a:p>
        </p:txBody>
      </p:sp>
      <p:sp>
        <p:nvSpPr>
          <p:cNvPr id="14" name="Text 12"/>
          <p:cNvSpPr txBox="1"/>
          <p:nvPr/>
        </p:nvSpPr>
        <p:spPr>
          <a:xfrm>
            <a:off x="1325880" y="3730752"/>
            <a:ext cx="7132320" cy="411480"/>
          </a:xfrm>
          <a:prstGeom prst="rect">
            <a:avLst/>
          </a:prstGeom>
          <a:noFill/>
          <a:ln/>
        </p:spPr>
        <p:txBody>
          <a:bodyPr wrap="square" lIns="0" tIns="0" rIns="0" bIns="0" rtlCol="0" anchor="t"/>
          <a:lstStyle/>
          <a:p>
            <a:pPr marL="0" indent="0">
              <a:buNone/>
            </a:pPr>
            <a:r>
              <a:rPr lang="en-US" sz="1250" dirty="0">
                <a:solidFill>
                  <a:srgbClr val="CFE0EE"/>
                </a:solidFill>
                <a:latin typeface="Calibri" pitchFamily="34" charset="0"/>
                <a:ea typeface="Calibri" pitchFamily="34" charset="-122"/>
                <a:cs typeface="Calibri" pitchFamily="34" charset="-120"/>
              </a:rPr>
              <a:t>Supplier IDs, delivery timestamps and warehouse capacity unlock supplier scoring and exact KPIs.</a:t>
            </a:r>
            <a:endParaRPr lang="en-US" sz="1250" dirty="0"/>
          </a:p>
        </p:txBody>
      </p:sp>
      <p:sp>
        <p:nvSpPr>
          <p:cNvPr id="15" name="Text 13"/>
          <p:cNvSpPr txBox="1"/>
          <p:nvPr/>
        </p:nvSpPr>
        <p:spPr>
          <a:xfrm>
            <a:off x="548640" y="4434840"/>
            <a:ext cx="5669280" cy="320040"/>
          </a:xfrm>
          <a:prstGeom prst="rect">
            <a:avLst/>
          </a:prstGeom>
          <a:noFill/>
          <a:ln/>
        </p:spPr>
        <p:txBody>
          <a:bodyPr wrap="square" lIns="0" tIns="0" rIns="0" bIns="0" rtlCol="0" anchor="t"/>
          <a:lstStyle/>
          <a:p>
            <a:pPr marL="0" indent="0">
              <a:buNone/>
            </a:pPr>
            <a:r>
              <a:rPr lang="en-US" sz="1200" i="1" dirty="0">
                <a:solidFill>
                  <a:srgbClr val="CFE0EE"/>
                </a:solidFill>
                <a:latin typeface="Calibri" pitchFamily="34" charset="0"/>
                <a:ea typeface="Calibri" pitchFamily="34" charset="-122"/>
                <a:cs typeface="Calibri" pitchFamily="34" charset="-120"/>
              </a:rPr>
              <a:t>Assumptions and data limitations are documented in the Executive BI Report.</a:t>
            </a:r>
            <a:endParaRPr lang="en-US" sz="1200" dirty="0"/>
          </a:p>
        </p:txBody>
      </p:sp>
      <p:sp>
        <p:nvSpPr>
          <p:cNvPr id="16" name="Text 14"/>
          <p:cNvSpPr txBox="1"/>
          <p:nvPr/>
        </p:nvSpPr>
        <p:spPr>
          <a:xfrm>
            <a:off x="7010400" y="4343400"/>
            <a:ext cx="1584960" cy="457200"/>
          </a:xfrm>
          <a:prstGeom prst="rect">
            <a:avLst/>
          </a:prstGeom>
          <a:noFill/>
          <a:ln/>
        </p:spPr>
        <p:txBody>
          <a:bodyPr wrap="square" lIns="0" tIns="0" rIns="0" bIns="0" rtlCol="0" anchor="t"/>
          <a:lstStyle/>
          <a:p>
            <a:pPr marL="0" indent="0" algn="r">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pic>
        <p:nvPicPr>
          <p:cNvPr id="17" name="Picture 16">
            <a:extLst>
              <a:ext uri="{FF2B5EF4-FFF2-40B4-BE49-F238E27FC236}">
                <a16:creationId xmlns:a16="http://schemas.microsoft.com/office/drawing/2014/main" id="{37809BEC-A229-7EC1-286B-96F5521A91AC}"/>
              </a:ext>
            </a:extLst>
          </p:cNvPr>
          <p:cNvPicPr>
            <a:picLocks noChangeAspect="1"/>
          </p:cNvPicPr>
          <p:nvPr/>
        </p:nvPicPr>
        <p:blipFill>
          <a:blip r:embed="rId3">
            <a:duotone>
              <a:schemeClr val="accent2">
                <a:shade val="45000"/>
                <a:satMod val="135000"/>
              </a:schemeClr>
              <a:prstClr val="white"/>
            </a:duotone>
          </a:blip>
          <a:stretch>
            <a:fillRect/>
          </a:stretch>
        </p:blipFill>
        <p:spPr>
          <a:xfrm>
            <a:off x="7239000" y="-85725"/>
            <a:ext cx="1657350" cy="16573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1738</Words>
  <Application>Microsoft Office PowerPoint</Application>
  <PresentationFormat>On-screen Show (16:9)</PresentationFormat>
  <Paragraphs>239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SwiftLog Executive Presentation</dc:title>
  <dc:subject>PptxGenJS Presentation</dc:subject>
  <dc:creator>Franklin</dc:creator>
  <cp:lastModifiedBy>franklin</cp:lastModifiedBy>
  <cp:revision>2</cp:revision>
  <dcterms:created xsi:type="dcterms:W3CDTF">2026-10-19T05:57:21Z</dcterms:created>
  <dcterms:modified xsi:type="dcterms:W3CDTF">2026-10-19T09:12:35Z</dcterms:modified>
</cp:coreProperties>
</file>